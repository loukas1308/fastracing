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2" r:id="rId6"/>
    <p:sldId id="263" r:id="rId7"/>
    <p:sldId id="265" r:id="rId8"/>
    <p:sldId id="267" r:id="rId9"/>
    <p:sldId id="268" r:id="rId10"/>
    <p:sldId id="279" r:id="rId11"/>
    <p:sldId id="278" r:id="rId12"/>
    <p:sldId id="277" r:id="rId13"/>
    <p:sldId id="280" r:id="rId14"/>
    <p:sldId id="274" r:id="rId15"/>
    <p:sldId id="275" r:id="rId16"/>
    <p:sldId id="294" r:id="rId17"/>
    <p:sldId id="276" r:id="rId18"/>
    <p:sldId id="282" r:id="rId19"/>
    <p:sldId id="283" r:id="rId20"/>
    <p:sldId id="284" r:id="rId21"/>
    <p:sldId id="285" r:id="rId22"/>
    <p:sldId id="287" r:id="rId23"/>
    <p:sldId id="289" r:id="rId2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22" d="100"/>
          <a:sy n="122" d="100"/>
        </p:scale>
        <p:origin x="-96" y="-330"/>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Titre 7"/>
          <p:cNvSpPr>
            <a:spLocks noGrp="1"/>
          </p:cNvSpPr>
          <p:nvPr>
            <p:ph type="ctrTitle"/>
          </p:nvPr>
        </p:nvSpPr>
        <p:spPr>
          <a:xfrm>
            <a:off x="3149600" y="4038600"/>
            <a:ext cx="8636000" cy="1828800"/>
          </a:xfrm>
        </p:spPr>
        <p:txBody>
          <a:bodyPr anchor="b"/>
          <a:lstStyle>
            <a:lvl1pPr>
              <a:defRPr cap="all" baseline="0"/>
            </a:lvl1pPr>
          </a:lstStyle>
          <a:p>
            <a:r>
              <a:rPr kumimoji="0" lang="fr-FR" smtClean="0"/>
              <a:t>Modifiez le style du titre</a:t>
            </a:r>
            <a:endParaRPr kumimoji="0" lang="en-US"/>
          </a:p>
        </p:txBody>
      </p:sp>
      <p:sp>
        <p:nvSpPr>
          <p:cNvPr id="9" name="Sous-titre 8"/>
          <p:cNvSpPr>
            <a:spLocks noGrp="1"/>
          </p:cNvSpPr>
          <p:nvPr>
            <p:ph type="subTitle" idx="1"/>
          </p:nvPr>
        </p:nvSpPr>
        <p:spPr>
          <a:xfrm>
            <a:off x="3149600" y="6050037"/>
            <a:ext cx="89408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Modifiez le style des sous-titres du masque</a:t>
            </a:r>
            <a:endParaRPr kumimoji="0" lang="en-US"/>
          </a:p>
        </p:txBody>
      </p:sp>
      <p:sp>
        <p:nvSpPr>
          <p:cNvPr id="28" name="Espace réservé de la date 27"/>
          <p:cNvSpPr>
            <a:spLocks noGrp="1"/>
          </p:cNvSpPr>
          <p:nvPr>
            <p:ph type="dt" sz="half" idx="10"/>
          </p:nvPr>
        </p:nvSpPr>
        <p:spPr>
          <a:xfrm>
            <a:off x="101600" y="6068699"/>
            <a:ext cx="2743200" cy="685800"/>
          </a:xfrm>
        </p:spPr>
        <p:txBody>
          <a:bodyPr>
            <a:noAutofit/>
          </a:bodyPr>
          <a:lstStyle>
            <a:lvl1pPr algn="ctr">
              <a:defRPr sz="2000">
                <a:solidFill>
                  <a:srgbClr val="FFFFFF"/>
                </a:solidFill>
              </a:defRPr>
            </a:lvl1pPr>
          </a:lstStyle>
          <a:p>
            <a:fld id="{6AC25C69-A4E7-4E1E-B859-B06365B00D5A}" type="datetimeFigureOut">
              <a:rPr lang="fr-BE" smtClean="0"/>
              <a:pPr/>
              <a:t>3/05/2016</a:t>
            </a:fld>
            <a:endParaRPr lang="fr-BE"/>
          </a:p>
        </p:txBody>
      </p:sp>
      <p:sp>
        <p:nvSpPr>
          <p:cNvPr id="17" name="Espace réservé du pied de page 16"/>
          <p:cNvSpPr>
            <a:spLocks noGrp="1"/>
          </p:cNvSpPr>
          <p:nvPr>
            <p:ph type="ftr" sz="quarter" idx="11"/>
          </p:nvPr>
        </p:nvSpPr>
        <p:spPr>
          <a:xfrm>
            <a:off x="2780524" y="236539"/>
            <a:ext cx="7823200" cy="365125"/>
          </a:xfrm>
        </p:spPr>
        <p:txBody>
          <a:bodyPr/>
          <a:lstStyle>
            <a:lvl1pPr algn="r">
              <a:defRPr>
                <a:solidFill>
                  <a:schemeClr val="tx2"/>
                </a:solidFill>
              </a:defRPr>
            </a:lvl1pPr>
          </a:lstStyle>
          <a:p>
            <a:endParaRPr lang="fr-BE"/>
          </a:p>
        </p:txBody>
      </p:sp>
      <p:sp>
        <p:nvSpPr>
          <p:cNvPr id="29" name="Espace réservé du numéro de diapositive 28"/>
          <p:cNvSpPr>
            <a:spLocks noGrp="1"/>
          </p:cNvSpPr>
          <p:nvPr>
            <p:ph type="sldNum" sz="quarter" idx="12"/>
          </p:nvPr>
        </p:nvSpPr>
        <p:spPr>
          <a:xfrm>
            <a:off x="10668000" y="228600"/>
            <a:ext cx="1117600" cy="381000"/>
          </a:xfrm>
        </p:spPr>
        <p:txBody>
          <a:bodyPr/>
          <a:lstStyle>
            <a:lvl1pPr>
              <a:defRPr>
                <a:solidFill>
                  <a:schemeClr val="tx2"/>
                </a:solidFill>
              </a:defRPr>
            </a:lvl1pPr>
          </a:lstStyle>
          <a:p>
            <a:fld id="{8ACF05C9-3D89-464B-8034-F0039293AFE5}" type="slidenum">
              <a:rPr lang="fr-BE" smtClean="0"/>
              <a:pPr/>
              <a:t>‹#›</a:t>
            </a:fld>
            <a:endParaRPr lang="fr-BE"/>
          </a:p>
        </p:txBody>
      </p:sp>
    </p:spTree>
    <p:extLst>
      <p:ext uri="{BB962C8B-B14F-4D97-AF65-F5344CB8AC3E}">
        <p14:creationId xmlns:p14="http://schemas.microsoft.com/office/powerpoint/2010/main" xmlns="" val="16029740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16864" y="228600"/>
            <a:ext cx="10871200" cy="990600"/>
          </a:xfrm>
        </p:spPr>
        <p:txBody>
          <a:bodyPr/>
          <a:lstStyle/>
          <a:p>
            <a:r>
              <a:rPr kumimoji="0" lang="fr-FR" smtClean="0"/>
              <a:t>Modifiez le style du titre</a:t>
            </a:r>
            <a:endParaRPr kumimoji="0" lang="en-US"/>
          </a:p>
        </p:txBody>
      </p:sp>
      <p:sp>
        <p:nvSpPr>
          <p:cNvPr id="4" name="Espace réservé de la date 3"/>
          <p:cNvSpPr>
            <a:spLocks noGrp="1"/>
          </p:cNvSpPr>
          <p:nvPr>
            <p:ph type="dt" sz="half" idx="10"/>
          </p:nvPr>
        </p:nvSpPr>
        <p:spPr/>
        <p:txBody>
          <a:bodyPr/>
          <a:lstStyle/>
          <a:p>
            <a:fld id="{6AC25C69-A4E7-4E1E-B859-B06365B00D5A}" type="datetimeFigureOut">
              <a:rPr lang="fr-BE" smtClean="0"/>
              <a:pPr/>
              <a:t>3/05/2016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lvl1pPr>
              <a:defRPr>
                <a:solidFill>
                  <a:srgbClr val="FFFFFF"/>
                </a:solidFill>
              </a:defRPr>
            </a:lvl1pPr>
          </a:lstStyle>
          <a:p>
            <a:fld id="{8ACF05C9-3D89-464B-8034-F0039293AFE5}" type="slidenum">
              <a:rPr lang="fr-BE" smtClean="0"/>
              <a:pPr/>
              <a:t>‹#›</a:t>
            </a:fld>
            <a:endParaRPr lang="fr-BE"/>
          </a:p>
        </p:txBody>
      </p:sp>
      <p:sp>
        <p:nvSpPr>
          <p:cNvPr id="8" name="Espace réservé du contenu 7"/>
          <p:cNvSpPr>
            <a:spLocks noGrp="1"/>
          </p:cNvSpPr>
          <p:nvPr>
            <p:ph sz="quarter" idx="1"/>
          </p:nvPr>
        </p:nvSpPr>
        <p:spPr>
          <a:xfrm>
            <a:off x="816864" y="1600200"/>
            <a:ext cx="10871200" cy="4495800"/>
          </a:xfrm>
        </p:spPr>
        <p:txBody>
          <a:bodyPr/>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extLst>
      <p:ext uri="{BB962C8B-B14F-4D97-AF65-F5344CB8AC3E}">
        <p14:creationId xmlns:p14="http://schemas.microsoft.com/office/powerpoint/2010/main" xmlns="" val="32068868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tête de section">
    <p:bg>
      <p:bgRef idx="1003">
        <a:schemeClr val="bg1"/>
      </p:bgRef>
    </p:bg>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1828801" y="2743200"/>
            <a:ext cx="9497484"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Modifiez les styles du texte du masque</a:t>
            </a:r>
          </a:p>
        </p:txBody>
      </p:sp>
      <p:sp>
        <p:nvSpPr>
          <p:cNvPr id="7" name="Rectangle 6"/>
          <p:cNvSpPr/>
          <p:nvPr/>
        </p:nvSpPr>
        <p:spPr bwMode="white">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Rectangle 8"/>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re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kumimoji="0" lang="fr-FR" smtClean="0"/>
              <a:t>Modifiez le style du titre</a:t>
            </a:r>
            <a:endParaRPr kumimoji="0" lang="en-US"/>
          </a:p>
        </p:txBody>
      </p:sp>
      <p:sp>
        <p:nvSpPr>
          <p:cNvPr id="12" name="Espace réservé de la date 11"/>
          <p:cNvSpPr>
            <a:spLocks noGrp="1"/>
          </p:cNvSpPr>
          <p:nvPr>
            <p:ph type="dt" sz="half" idx="10"/>
          </p:nvPr>
        </p:nvSpPr>
        <p:spPr/>
        <p:txBody>
          <a:bodyPr/>
          <a:lstStyle/>
          <a:p>
            <a:fld id="{6AC25C69-A4E7-4E1E-B859-B06365B00D5A}" type="datetimeFigureOut">
              <a:rPr lang="fr-BE" smtClean="0"/>
              <a:pPr/>
              <a:t>3/05/2016</a:t>
            </a:fld>
            <a:endParaRPr lang="fr-BE"/>
          </a:p>
        </p:txBody>
      </p:sp>
      <p:sp>
        <p:nvSpPr>
          <p:cNvPr id="13" name="Espace réservé du numéro de diapositive 12"/>
          <p:cNvSpPr>
            <a:spLocks noGrp="1"/>
          </p:cNvSpPr>
          <p:nvPr>
            <p:ph type="sldNum" sz="quarter" idx="11"/>
          </p:nvPr>
        </p:nvSpPr>
        <p:spPr>
          <a:xfrm>
            <a:off x="0" y="1752600"/>
            <a:ext cx="1727200" cy="701676"/>
          </a:xfrm>
        </p:spPr>
        <p:txBody>
          <a:bodyPr>
            <a:noAutofit/>
          </a:bodyPr>
          <a:lstStyle>
            <a:lvl1pPr>
              <a:defRPr sz="2400">
                <a:solidFill>
                  <a:srgbClr val="FFFFFF"/>
                </a:solidFill>
              </a:defRPr>
            </a:lvl1pPr>
          </a:lstStyle>
          <a:p>
            <a:fld id="{8ACF05C9-3D89-464B-8034-F0039293AFE5}" type="slidenum">
              <a:rPr lang="fr-BE" smtClean="0"/>
              <a:pPr/>
              <a:t>‹#›</a:t>
            </a:fld>
            <a:endParaRPr lang="fr-BE"/>
          </a:p>
        </p:txBody>
      </p:sp>
      <p:sp>
        <p:nvSpPr>
          <p:cNvPr id="14" name="Espace réservé du pied de page 13"/>
          <p:cNvSpPr>
            <a:spLocks noGrp="1"/>
          </p:cNvSpPr>
          <p:nvPr>
            <p:ph type="ftr" sz="quarter" idx="12"/>
          </p:nvPr>
        </p:nvSpPr>
        <p:spPr/>
        <p:txBody>
          <a:bodyPr/>
          <a:lstStyle/>
          <a:p>
            <a:endParaRPr lang="fr-BE"/>
          </a:p>
        </p:txBody>
      </p:sp>
    </p:spTree>
    <p:extLst>
      <p:ext uri="{BB962C8B-B14F-4D97-AF65-F5344CB8AC3E}">
        <p14:creationId xmlns:p14="http://schemas.microsoft.com/office/powerpoint/2010/main" xmlns="" val="146347650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Modifiez le style du titre</a:t>
            </a:r>
            <a:endParaRPr kumimoji="0" lang="en-US"/>
          </a:p>
        </p:txBody>
      </p:sp>
      <p:sp>
        <p:nvSpPr>
          <p:cNvPr id="9" name="Espace réservé du contenu 8"/>
          <p:cNvSpPr>
            <a:spLocks noGrp="1"/>
          </p:cNvSpPr>
          <p:nvPr>
            <p:ph sz="quarter" idx="1"/>
          </p:nvPr>
        </p:nvSpPr>
        <p:spPr>
          <a:xfrm>
            <a:off x="812800" y="1589567"/>
            <a:ext cx="5181600" cy="4572000"/>
          </a:xfrm>
        </p:spPr>
        <p:txBody>
          <a:bodyPr/>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1" name="Espace réservé du contenu 10"/>
          <p:cNvSpPr>
            <a:spLocks noGrp="1"/>
          </p:cNvSpPr>
          <p:nvPr>
            <p:ph sz="quarter" idx="2"/>
          </p:nvPr>
        </p:nvSpPr>
        <p:spPr>
          <a:xfrm>
            <a:off x="6459868" y="1589567"/>
            <a:ext cx="5181600" cy="4572000"/>
          </a:xfrm>
        </p:spPr>
        <p:txBody>
          <a:bodyPr/>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8" name="Espace réservé de la date 7"/>
          <p:cNvSpPr>
            <a:spLocks noGrp="1"/>
          </p:cNvSpPr>
          <p:nvPr>
            <p:ph type="dt" sz="half" idx="15"/>
          </p:nvPr>
        </p:nvSpPr>
        <p:spPr/>
        <p:txBody>
          <a:bodyPr rtlCol="0"/>
          <a:lstStyle/>
          <a:p>
            <a:fld id="{6AC25C69-A4E7-4E1E-B859-B06365B00D5A}" type="datetimeFigureOut">
              <a:rPr lang="fr-BE" smtClean="0"/>
              <a:pPr/>
              <a:t>3/05/2016</a:t>
            </a:fld>
            <a:endParaRPr lang="fr-BE"/>
          </a:p>
        </p:txBody>
      </p:sp>
      <p:sp>
        <p:nvSpPr>
          <p:cNvPr id="10" name="Espace réservé du numéro de diapositive 9"/>
          <p:cNvSpPr>
            <a:spLocks noGrp="1"/>
          </p:cNvSpPr>
          <p:nvPr>
            <p:ph type="sldNum" sz="quarter" idx="16"/>
          </p:nvPr>
        </p:nvSpPr>
        <p:spPr/>
        <p:txBody>
          <a:bodyPr rtlCol="0"/>
          <a:lstStyle/>
          <a:p>
            <a:fld id="{8ACF05C9-3D89-464B-8034-F0039293AFE5}" type="slidenum">
              <a:rPr lang="fr-BE" smtClean="0"/>
              <a:pPr/>
              <a:t>‹#›</a:t>
            </a:fld>
            <a:endParaRPr lang="fr-BE"/>
          </a:p>
        </p:txBody>
      </p:sp>
      <p:sp>
        <p:nvSpPr>
          <p:cNvPr id="12" name="Espace réservé du pied de page 11"/>
          <p:cNvSpPr>
            <a:spLocks noGrp="1"/>
          </p:cNvSpPr>
          <p:nvPr>
            <p:ph type="ftr" sz="quarter" idx="17"/>
          </p:nvPr>
        </p:nvSpPr>
        <p:spPr/>
        <p:txBody>
          <a:bodyPr rtlCol="0"/>
          <a:lstStyle/>
          <a:p>
            <a:endParaRPr lang="fr-BE"/>
          </a:p>
        </p:txBody>
      </p:sp>
    </p:spTree>
    <p:extLst>
      <p:ext uri="{BB962C8B-B14F-4D97-AF65-F5344CB8AC3E}">
        <p14:creationId xmlns:p14="http://schemas.microsoft.com/office/powerpoint/2010/main" xmlns="" val="2817175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711200" y="273050"/>
            <a:ext cx="10871200" cy="869950"/>
          </a:xfrm>
        </p:spPr>
        <p:txBody>
          <a:bodyPr anchor="ctr"/>
          <a:lstStyle>
            <a:lvl1pPr>
              <a:defRPr/>
            </a:lvl1pPr>
          </a:lstStyle>
          <a:p>
            <a:r>
              <a:rPr kumimoji="0" lang="fr-FR" smtClean="0"/>
              <a:t>Modifiez le style du titre</a:t>
            </a:r>
            <a:endParaRPr kumimoji="0" lang="en-US"/>
          </a:p>
        </p:txBody>
      </p:sp>
      <p:sp>
        <p:nvSpPr>
          <p:cNvPr id="11" name="Espace réservé du contenu 10"/>
          <p:cNvSpPr>
            <a:spLocks noGrp="1"/>
          </p:cNvSpPr>
          <p:nvPr>
            <p:ph sz="quarter" idx="2"/>
          </p:nvPr>
        </p:nvSpPr>
        <p:spPr>
          <a:xfrm>
            <a:off x="812800" y="2438400"/>
            <a:ext cx="5181600" cy="3581400"/>
          </a:xfrm>
        </p:spPr>
        <p:txBody>
          <a:bodyPr/>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3" name="Espace réservé du contenu 12"/>
          <p:cNvSpPr>
            <a:spLocks noGrp="1"/>
          </p:cNvSpPr>
          <p:nvPr>
            <p:ph sz="quarter" idx="4"/>
          </p:nvPr>
        </p:nvSpPr>
        <p:spPr>
          <a:xfrm>
            <a:off x="6400800" y="2438400"/>
            <a:ext cx="5181600" cy="3581400"/>
          </a:xfrm>
        </p:spPr>
        <p:txBody>
          <a:bodyPr/>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0" name="Espace réservé de la date 9"/>
          <p:cNvSpPr>
            <a:spLocks noGrp="1"/>
          </p:cNvSpPr>
          <p:nvPr>
            <p:ph type="dt" sz="half" idx="15"/>
          </p:nvPr>
        </p:nvSpPr>
        <p:spPr/>
        <p:txBody>
          <a:bodyPr rtlCol="0"/>
          <a:lstStyle/>
          <a:p>
            <a:fld id="{6AC25C69-A4E7-4E1E-B859-B06365B00D5A}" type="datetimeFigureOut">
              <a:rPr lang="fr-BE" smtClean="0"/>
              <a:pPr/>
              <a:t>3/05/2016</a:t>
            </a:fld>
            <a:endParaRPr lang="fr-BE"/>
          </a:p>
        </p:txBody>
      </p:sp>
      <p:sp>
        <p:nvSpPr>
          <p:cNvPr id="12" name="Espace réservé du numéro de diapositive 11"/>
          <p:cNvSpPr>
            <a:spLocks noGrp="1"/>
          </p:cNvSpPr>
          <p:nvPr>
            <p:ph type="sldNum" sz="quarter" idx="16"/>
          </p:nvPr>
        </p:nvSpPr>
        <p:spPr/>
        <p:txBody>
          <a:bodyPr rtlCol="0"/>
          <a:lstStyle/>
          <a:p>
            <a:fld id="{8ACF05C9-3D89-464B-8034-F0039293AFE5}" type="slidenum">
              <a:rPr lang="fr-BE" smtClean="0"/>
              <a:pPr/>
              <a:t>‹#›</a:t>
            </a:fld>
            <a:endParaRPr lang="fr-BE"/>
          </a:p>
        </p:txBody>
      </p:sp>
      <p:sp>
        <p:nvSpPr>
          <p:cNvPr id="14" name="Espace réservé du pied de page 13"/>
          <p:cNvSpPr>
            <a:spLocks noGrp="1"/>
          </p:cNvSpPr>
          <p:nvPr>
            <p:ph type="ftr" sz="quarter" idx="17"/>
          </p:nvPr>
        </p:nvSpPr>
        <p:spPr/>
        <p:txBody>
          <a:bodyPr rtlCol="0"/>
          <a:lstStyle/>
          <a:p>
            <a:endParaRPr lang="fr-BE"/>
          </a:p>
        </p:txBody>
      </p:sp>
      <p:sp>
        <p:nvSpPr>
          <p:cNvPr id="16" name="Espace réservé du texte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fr-FR" smtClean="0"/>
              <a:t>Modifiez les styles du texte du masque</a:t>
            </a:r>
          </a:p>
        </p:txBody>
      </p:sp>
      <p:sp>
        <p:nvSpPr>
          <p:cNvPr id="15" name="Espace réservé du texte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fr-FR" smtClean="0"/>
              <a:t>Modifiez les styles du texte du masque</a:t>
            </a:r>
          </a:p>
        </p:txBody>
      </p:sp>
    </p:spTree>
    <p:extLst>
      <p:ext uri="{BB962C8B-B14F-4D97-AF65-F5344CB8AC3E}">
        <p14:creationId xmlns:p14="http://schemas.microsoft.com/office/powerpoint/2010/main" xmlns="" val="2617464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Modifiez le style du titre</a:t>
            </a:r>
            <a:endParaRPr kumimoji="0" lang="en-US"/>
          </a:p>
        </p:txBody>
      </p:sp>
      <p:sp>
        <p:nvSpPr>
          <p:cNvPr id="3" name="Espace réservé de la date 2"/>
          <p:cNvSpPr>
            <a:spLocks noGrp="1"/>
          </p:cNvSpPr>
          <p:nvPr>
            <p:ph type="dt" sz="half" idx="10"/>
          </p:nvPr>
        </p:nvSpPr>
        <p:spPr/>
        <p:txBody>
          <a:bodyPr/>
          <a:lstStyle/>
          <a:p>
            <a:fld id="{6AC25C69-A4E7-4E1E-B859-B06365B00D5A}" type="datetimeFigureOut">
              <a:rPr lang="fr-BE" smtClean="0"/>
              <a:pPr/>
              <a:t>3/05/2016</a:t>
            </a:fld>
            <a:endParaRPr lang="fr-BE"/>
          </a:p>
        </p:txBody>
      </p:sp>
      <p:sp>
        <p:nvSpPr>
          <p:cNvPr id="4" name="Espace réservé du pied de page 3"/>
          <p:cNvSpPr>
            <a:spLocks noGrp="1"/>
          </p:cNvSpPr>
          <p:nvPr>
            <p:ph type="ftr" sz="quarter" idx="11"/>
          </p:nvPr>
        </p:nvSpPr>
        <p:spPr/>
        <p:txBody>
          <a:bodyPr/>
          <a:lstStyle/>
          <a:p>
            <a:endParaRPr lang="fr-BE"/>
          </a:p>
        </p:txBody>
      </p:sp>
      <p:sp>
        <p:nvSpPr>
          <p:cNvPr id="5" name="Espace réservé du numéro de diapositive 4"/>
          <p:cNvSpPr>
            <a:spLocks noGrp="1"/>
          </p:cNvSpPr>
          <p:nvPr>
            <p:ph type="sldNum" sz="quarter" idx="12"/>
          </p:nvPr>
        </p:nvSpPr>
        <p:spPr/>
        <p:txBody>
          <a:bodyPr/>
          <a:lstStyle>
            <a:lvl1pPr>
              <a:defRPr>
                <a:solidFill>
                  <a:srgbClr val="FFFFFF"/>
                </a:solidFill>
              </a:defRPr>
            </a:lvl1pPr>
          </a:lstStyle>
          <a:p>
            <a:fld id="{8ACF05C9-3D89-464B-8034-F0039293AFE5}" type="slidenum">
              <a:rPr lang="fr-BE" smtClean="0"/>
              <a:pPr/>
              <a:t>‹#›</a:t>
            </a:fld>
            <a:endParaRPr lang="fr-BE"/>
          </a:p>
        </p:txBody>
      </p:sp>
    </p:spTree>
    <p:extLst>
      <p:ext uri="{BB962C8B-B14F-4D97-AF65-F5344CB8AC3E}">
        <p14:creationId xmlns:p14="http://schemas.microsoft.com/office/powerpoint/2010/main" xmlns="" val="1929389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AC25C69-A4E7-4E1E-B859-B06365B00D5A}" type="datetimeFigureOut">
              <a:rPr lang="fr-BE" smtClean="0"/>
              <a:pPr/>
              <a:t>3/05/2016</a:t>
            </a:fld>
            <a:endParaRPr lang="fr-BE"/>
          </a:p>
        </p:txBody>
      </p:sp>
      <p:sp>
        <p:nvSpPr>
          <p:cNvPr id="3" name="Espace réservé du pied de page 2"/>
          <p:cNvSpPr>
            <a:spLocks noGrp="1"/>
          </p:cNvSpPr>
          <p:nvPr>
            <p:ph type="ftr" sz="quarter" idx="11"/>
          </p:nvPr>
        </p:nvSpPr>
        <p:spPr/>
        <p:txBody>
          <a:bodyPr/>
          <a:lstStyle/>
          <a:p>
            <a:endParaRPr lang="fr-BE"/>
          </a:p>
        </p:txBody>
      </p:sp>
      <p:sp>
        <p:nvSpPr>
          <p:cNvPr id="4" name="Espace réservé du numéro de diapositive 3"/>
          <p:cNvSpPr>
            <a:spLocks noGrp="1"/>
          </p:cNvSpPr>
          <p:nvPr>
            <p:ph type="sldNum" sz="quarter" idx="12"/>
          </p:nvPr>
        </p:nvSpPr>
        <p:spPr>
          <a:xfrm>
            <a:off x="0" y="6248400"/>
            <a:ext cx="711200" cy="381000"/>
          </a:xfrm>
        </p:spPr>
        <p:txBody>
          <a:bodyPr/>
          <a:lstStyle>
            <a:lvl1pPr>
              <a:defRPr>
                <a:solidFill>
                  <a:schemeClr val="tx2"/>
                </a:solidFill>
              </a:defRPr>
            </a:lvl1pPr>
          </a:lstStyle>
          <a:p>
            <a:fld id="{8ACF05C9-3D89-464B-8034-F0039293AFE5}" type="slidenum">
              <a:rPr lang="fr-BE" smtClean="0"/>
              <a:pPr/>
              <a:t>‹#›</a:t>
            </a:fld>
            <a:endParaRPr lang="fr-BE"/>
          </a:p>
        </p:txBody>
      </p:sp>
    </p:spTree>
    <p:extLst>
      <p:ext uri="{BB962C8B-B14F-4D97-AF65-F5344CB8AC3E}">
        <p14:creationId xmlns:p14="http://schemas.microsoft.com/office/powerpoint/2010/main" xmlns="" val="4077093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12800" y="273050"/>
            <a:ext cx="10769600" cy="869950"/>
          </a:xfrm>
        </p:spPr>
        <p:txBody>
          <a:bodyPr anchor="ctr"/>
          <a:lstStyle>
            <a:lvl1pPr algn="l">
              <a:buNone/>
              <a:defRPr sz="4400" b="0"/>
            </a:lvl1pPr>
          </a:lstStyle>
          <a:p>
            <a:r>
              <a:rPr kumimoji="0" lang="fr-FR" smtClean="0"/>
              <a:t>Modifiez le style du titre</a:t>
            </a:r>
            <a:endParaRPr kumimoji="0" lang="en-US"/>
          </a:p>
        </p:txBody>
      </p:sp>
      <p:sp>
        <p:nvSpPr>
          <p:cNvPr id="5" name="Espace réservé de la date 4"/>
          <p:cNvSpPr>
            <a:spLocks noGrp="1"/>
          </p:cNvSpPr>
          <p:nvPr>
            <p:ph type="dt" sz="half" idx="10"/>
          </p:nvPr>
        </p:nvSpPr>
        <p:spPr/>
        <p:txBody>
          <a:bodyPr/>
          <a:lstStyle/>
          <a:p>
            <a:fld id="{6AC25C69-A4E7-4E1E-B859-B06365B00D5A}" type="datetimeFigureOut">
              <a:rPr lang="fr-BE" smtClean="0"/>
              <a:pPr/>
              <a:t>3/05/2016</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lvl1pPr>
              <a:defRPr>
                <a:solidFill>
                  <a:srgbClr val="FFFFFF"/>
                </a:solidFill>
              </a:defRPr>
            </a:lvl1pPr>
          </a:lstStyle>
          <a:p>
            <a:fld id="{8ACF05C9-3D89-464B-8034-F0039293AFE5}" type="slidenum">
              <a:rPr lang="fr-BE" smtClean="0"/>
              <a:pPr/>
              <a:t>‹#›</a:t>
            </a:fld>
            <a:endParaRPr lang="fr-BE"/>
          </a:p>
        </p:txBody>
      </p:sp>
      <p:sp>
        <p:nvSpPr>
          <p:cNvPr id="3" name="Espace réservé du texte 2"/>
          <p:cNvSpPr>
            <a:spLocks noGrp="1"/>
          </p:cNvSpPr>
          <p:nvPr>
            <p:ph type="body" idx="2"/>
          </p:nvPr>
        </p:nvSpPr>
        <p:spPr>
          <a:xfrm>
            <a:off x="812800" y="1752600"/>
            <a:ext cx="21336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fr-FR" smtClean="0"/>
              <a:t>Modifiez les styles du texte du masque</a:t>
            </a:r>
          </a:p>
        </p:txBody>
      </p:sp>
      <p:sp>
        <p:nvSpPr>
          <p:cNvPr id="9" name="Espace réservé du contenu 8"/>
          <p:cNvSpPr>
            <a:spLocks noGrp="1"/>
          </p:cNvSpPr>
          <p:nvPr>
            <p:ph sz="quarter" idx="1"/>
          </p:nvPr>
        </p:nvSpPr>
        <p:spPr>
          <a:xfrm>
            <a:off x="3149600" y="1752600"/>
            <a:ext cx="8534400" cy="4419600"/>
          </a:xfrm>
        </p:spPr>
        <p:txBody>
          <a:bodyPr/>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extLst>
      <p:ext uri="{BB962C8B-B14F-4D97-AF65-F5344CB8AC3E}">
        <p14:creationId xmlns:p14="http://schemas.microsoft.com/office/powerpoint/2010/main" xmlns="" val="548225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bg>
      <p:bgRef idx="1003">
        <a:schemeClr val="bg2"/>
      </p:bgRef>
    </p:bg>
    <p:spTree>
      <p:nvGrpSpPr>
        <p:cNvPr id="1" name=""/>
        <p:cNvGrpSpPr/>
        <p:nvPr/>
      </p:nvGrpSpPr>
      <p:grpSpPr>
        <a:xfrm>
          <a:off x="0" y="0"/>
          <a:ext cx="0" cy="0"/>
          <a:chOff x="0" y="0"/>
          <a:chExt cx="0" cy="0"/>
        </a:xfrm>
      </p:grpSpPr>
      <p:sp>
        <p:nvSpPr>
          <p:cNvPr id="4" name="Espace réservé du texte 3"/>
          <p:cNvSpPr>
            <a:spLocks noGrp="1"/>
          </p:cNvSpPr>
          <p:nvPr>
            <p:ph type="body" sz="half" idx="2"/>
          </p:nvPr>
        </p:nvSpPr>
        <p:spPr>
          <a:xfrm>
            <a:off x="2133600" y="5486400"/>
            <a:ext cx="97536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fr-FR" smtClean="0"/>
              <a:t>Modifiez les styles du texte du masque</a:t>
            </a:r>
          </a:p>
        </p:txBody>
      </p:sp>
      <p:sp>
        <p:nvSpPr>
          <p:cNvPr id="8" name="Rectangle 7"/>
          <p:cNvSpPr/>
          <p:nvPr/>
        </p:nvSpPr>
        <p:spPr bwMode="white">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2060448" y="4654296"/>
            <a:ext cx="10131552"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re 1"/>
          <p:cNvSpPr>
            <a:spLocks noGrp="1"/>
          </p:cNvSpPr>
          <p:nvPr>
            <p:ph type="title"/>
          </p:nvPr>
        </p:nvSpPr>
        <p:spPr>
          <a:xfrm>
            <a:off x="2133600" y="4648200"/>
            <a:ext cx="9753600" cy="685800"/>
          </a:xfrm>
        </p:spPr>
        <p:txBody>
          <a:bodyPr anchor="ctr"/>
          <a:lstStyle>
            <a:lvl1pPr algn="l">
              <a:buNone/>
              <a:defRPr sz="2800" b="0">
                <a:solidFill>
                  <a:srgbClr val="FFFFFF"/>
                </a:solidFill>
              </a:defRPr>
            </a:lvl1pPr>
          </a:lstStyle>
          <a:p>
            <a:r>
              <a:rPr kumimoji="0" lang="fr-FR" smtClean="0"/>
              <a:t>Modifiez le style du titre</a:t>
            </a:r>
            <a:endParaRPr kumimoji="0" lang="en-US"/>
          </a:p>
        </p:txBody>
      </p:sp>
      <p:sp>
        <p:nvSpPr>
          <p:cNvPr id="11" name="Rectangle 10"/>
          <p:cNvSpPr/>
          <p:nvPr/>
        </p:nvSpPr>
        <p:spPr bwMode="white">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Espace réservé de la date 11"/>
          <p:cNvSpPr>
            <a:spLocks noGrp="1"/>
          </p:cNvSpPr>
          <p:nvPr>
            <p:ph type="dt" sz="half" idx="10"/>
          </p:nvPr>
        </p:nvSpPr>
        <p:spPr>
          <a:xfrm>
            <a:off x="8331200" y="6248401"/>
            <a:ext cx="3556000" cy="365125"/>
          </a:xfrm>
        </p:spPr>
        <p:txBody>
          <a:bodyPr rtlCol="0"/>
          <a:lstStyle/>
          <a:p>
            <a:fld id="{6AC25C69-A4E7-4E1E-B859-B06365B00D5A}" type="datetimeFigureOut">
              <a:rPr lang="fr-BE" smtClean="0"/>
              <a:pPr/>
              <a:t>3/05/2016</a:t>
            </a:fld>
            <a:endParaRPr lang="fr-BE"/>
          </a:p>
        </p:txBody>
      </p:sp>
      <p:sp>
        <p:nvSpPr>
          <p:cNvPr id="13" name="Espace réservé du numéro de diapositive 12"/>
          <p:cNvSpPr>
            <a:spLocks noGrp="1"/>
          </p:cNvSpPr>
          <p:nvPr>
            <p:ph type="sldNum" sz="quarter" idx="11"/>
          </p:nvPr>
        </p:nvSpPr>
        <p:spPr>
          <a:xfrm>
            <a:off x="0" y="4667249"/>
            <a:ext cx="1930400" cy="663578"/>
          </a:xfrm>
        </p:spPr>
        <p:txBody>
          <a:bodyPr rtlCol="0"/>
          <a:lstStyle>
            <a:lvl1pPr>
              <a:defRPr sz="2800"/>
            </a:lvl1pPr>
          </a:lstStyle>
          <a:p>
            <a:fld id="{8ACF05C9-3D89-464B-8034-F0039293AFE5}" type="slidenum">
              <a:rPr lang="fr-BE" smtClean="0"/>
              <a:pPr/>
              <a:t>‹#›</a:t>
            </a:fld>
            <a:endParaRPr lang="fr-BE"/>
          </a:p>
        </p:txBody>
      </p:sp>
      <p:sp>
        <p:nvSpPr>
          <p:cNvPr id="14" name="Espace réservé du pied de page 13"/>
          <p:cNvSpPr>
            <a:spLocks noGrp="1"/>
          </p:cNvSpPr>
          <p:nvPr>
            <p:ph type="ftr" sz="quarter" idx="12"/>
          </p:nvPr>
        </p:nvSpPr>
        <p:spPr>
          <a:xfrm>
            <a:off x="2133600" y="6248207"/>
            <a:ext cx="6096000" cy="365125"/>
          </a:xfrm>
        </p:spPr>
        <p:txBody>
          <a:bodyPr rtlCol="0"/>
          <a:lstStyle/>
          <a:p>
            <a:endParaRPr lang="fr-BE"/>
          </a:p>
        </p:txBody>
      </p:sp>
      <p:sp>
        <p:nvSpPr>
          <p:cNvPr id="3" name="Espace réservé pour une image  2"/>
          <p:cNvSpPr>
            <a:spLocks noGrp="1"/>
          </p:cNvSpPr>
          <p:nvPr>
            <p:ph type="pic" idx="1"/>
          </p:nvPr>
        </p:nvSpPr>
        <p:spPr>
          <a:xfrm>
            <a:off x="2080768" y="0"/>
            <a:ext cx="10111232" cy="4568952"/>
          </a:xfrm>
          <a:solidFill>
            <a:schemeClr val="accent1">
              <a:tint val="40000"/>
            </a:schemeClr>
          </a:solidFill>
          <a:ln>
            <a:noFill/>
          </a:ln>
        </p:spPr>
        <p:txBody>
          <a:bodyPr/>
          <a:lstStyle>
            <a:lvl1pPr marL="0" indent="0">
              <a:buNone/>
              <a:defRPr sz="3200"/>
            </a:lvl1pPr>
          </a:lstStyle>
          <a:p>
            <a:r>
              <a:rPr kumimoji="0" lang="fr-FR" smtClean="0"/>
              <a:t>Cliquez sur l'icône pour ajouter une image</a:t>
            </a:r>
            <a:endParaRPr kumimoji="0" lang="en-US" dirty="0"/>
          </a:p>
        </p:txBody>
      </p:sp>
    </p:spTree>
    <p:extLst>
      <p:ext uri="{BB962C8B-B14F-4D97-AF65-F5344CB8AC3E}">
        <p14:creationId xmlns:p14="http://schemas.microsoft.com/office/powerpoint/2010/main" xmlns="" val="3996414343"/>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Modifiez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6AC25C69-A4E7-4E1E-B859-B06365B00D5A}" type="datetimeFigureOut">
              <a:rPr lang="fr-BE" smtClean="0"/>
              <a:pPr/>
              <a:t>3/05/2016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8ACF05C9-3D89-464B-8034-F0039293AFE5}" type="slidenum">
              <a:rPr lang="fr-BE" smtClean="0"/>
              <a:pPr/>
              <a:t>‹#›</a:t>
            </a:fld>
            <a:endParaRPr lang="fr-BE"/>
          </a:p>
        </p:txBody>
      </p:sp>
    </p:spTree>
    <p:extLst>
      <p:ext uri="{BB962C8B-B14F-4D97-AF65-F5344CB8AC3E}">
        <p14:creationId xmlns:p14="http://schemas.microsoft.com/office/powerpoint/2010/main" xmlns="" val="3996987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1"/>
      </p:bgRef>
    </p:bg>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37600" y="609601"/>
            <a:ext cx="2743200" cy="5516563"/>
          </a:xfrm>
        </p:spPr>
        <p:txBody>
          <a:bodyPr vert="eaVert"/>
          <a:lstStyle/>
          <a:p>
            <a:r>
              <a:rPr kumimoji="0" lang="fr-FR" smtClean="0"/>
              <a:t>Modifiez le style du titre</a:t>
            </a:r>
            <a:endParaRPr kumimoji="0" lang="en-US"/>
          </a:p>
        </p:txBody>
      </p:sp>
      <p:sp>
        <p:nvSpPr>
          <p:cNvPr id="3" name="Espace réservé du texte vertical 2"/>
          <p:cNvSpPr>
            <a:spLocks noGrp="1"/>
          </p:cNvSpPr>
          <p:nvPr>
            <p:ph type="body" orient="vert" idx="1"/>
          </p:nvPr>
        </p:nvSpPr>
        <p:spPr>
          <a:xfrm>
            <a:off x="609600" y="609600"/>
            <a:ext cx="7416800" cy="5516564"/>
          </a:xfrm>
        </p:spPr>
        <p:txBody>
          <a:bodyPr vert="eaVer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a:xfrm>
            <a:off x="8737600" y="6248403"/>
            <a:ext cx="2946400" cy="365125"/>
          </a:xfrm>
        </p:spPr>
        <p:txBody>
          <a:bodyPr/>
          <a:lstStyle/>
          <a:p>
            <a:fld id="{6AC25C69-A4E7-4E1E-B859-B06365B00D5A}" type="datetimeFigureOut">
              <a:rPr lang="fr-BE" smtClean="0"/>
              <a:pPr/>
              <a:t>3/05/2016</a:t>
            </a:fld>
            <a:endParaRPr lang="fr-BE"/>
          </a:p>
        </p:txBody>
      </p:sp>
      <p:sp>
        <p:nvSpPr>
          <p:cNvPr id="5" name="Espace réservé du pied de page 4"/>
          <p:cNvSpPr>
            <a:spLocks noGrp="1"/>
          </p:cNvSpPr>
          <p:nvPr>
            <p:ph type="ftr" sz="quarter" idx="11"/>
          </p:nvPr>
        </p:nvSpPr>
        <p:spPr>
          <a:xfrm>
            <a:off x="609602" y="6248208"/>
            <a:ext cx="7431311" cy="365125"/>
          </a:xfrm>
        </p:spPr>
        <p:txBody>
          <a:bodyPr/>
          <a:lstStyle/>
          <a:p>
            <a:endParaRPr lang="fr-BE"/>
          </a:p>
        </p:txBody>
      </p:sp>
      <p:sp>
        <p:nvSpPr>
          <p:cNvPr id="7" name="Rectangle 6"/>
          <p:cNvSpPr/>
          <p:nvPr/>
        </p:nvSpPr>
        <p:spPr bwMode="white">
          <a:xfrm>
            <a:off x="8128424" y="0"/>
            <a:ext cx="42672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8" name="Rectangle 7"/>
          <p:cNvSpPr/>
          <p:nvPr/>
        </p:nvSpPr>
        <p:spPr>
          <a:xfrm>
            <a:off x="8189384" y="609600"/>
            <a:ext cx="3048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9" name="Rectangle 8"/>
          <p:cNvSpPr/>
          <p:nvPr/>
        </p:nvSpPr>
        <p:spPr>
          <a:xfrm>
            <a:off x="8189384" y="0"/>
            <a:ext cx="3048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6" name="Espace réservé du numéro de diapositive 5"/>
          <p:cNvSpPr>
            <a:spLocks noGrp="1"/>
          </p:cNvSpPr>
          <p:nvPr>
            <p:ph type="sldNum" sz="quarter" idx="12"/>
          </p:nvPr>
        </p:nvSpPr>
        <p:spPr>
          <a:xfrm rot="5400000">
            <a:off x="8075084" y="103716"/>
            <a:ext cx="533400" cy="325968"/>
          </a:xfrm>
        </p:spPr>
        <p:txBody>
          <a:bodyPr/>
          <a:lstStyle/>
          <a:p>
            <a:fld id="{8ACF05C9-3D89-464B-8034-F0039293AFE5}" type="slidenum">
              <a:rPr lang="fr-BE" smtClean="0"/>
              <a:pPr/>
              <a:t>‹#›</a:t>
            </a:fld>
            <a:endParaRPr lang="fr-BE"/>
          </a:p>
        </p:txBody>
      </p:sp>
    </p:spTree>
    <p:extLst>
      <p:ext uri="{BB962C8B-B14F-4D97-AF65-F5344CB8AC3E}">
        <p14:creationId xmlns:p14="http://schemas.microsoft.com/office/powerpoint/2010/main" xmlns="" val="32228750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Espace réservé du titre 21"/>
          <p:cNvSpPr>
            <a:spLocks noGrp="1"/>
          </p:cNvSpPr>
          <p:nvPr>
            <p:ph type="title"/>
          </p:nvPr>
        </p:nvSpPr>
        <p:spPr>
          <a:xfrm>
            <a:off x="812800" y="228600"/>
            <a:ext cx="10871200" cy="990600"/>
          </a:xfrm>
          <a:prstGeom prst="rect">
            <a:avLst/>
          </a:prstGeom>
        </p:spPr>
        <p:txBody>
          <a:bodyPr vert="horz" anchor="ctr">
            <a:normAutofit/>
          </a:bodyPr>
          <a:lstStyle/>
          <a:p>
            <a:r>
              <a:rPr kumimoji="0" lang="nl-BE" smtClean="0"/>
              <a:t>Cliquez et modifiez le titre</a:t>
            </a:r>
            <a:endParaRPr kumimoji="0" lang="en-US"/>
          </a:p>
        </p:txBody>
      </p:sp>
      <p:sp>
        <p:nvSpPr>
          <p:cNvPr id="13" name="Espace réservé du texte 12"/>
          <p:cNvSpPr>
            <a:spLocks noGrp="1"/>
          </p:cNvSpPr>
          <p:nvPr>
            <p:ph type="body" idx="1"/>
          </p:nvPr>
        </p:nvSpPr>
        <p:spPr>
          <a:xfrm>
            <a:off x="816864" y="1600200"/>
            <a:ext cx="10871200" cy="4526280"/>
          </a:xfrm>
          <a:prstGeom prst="rect">
            <a:avLst/>
          </a:prstGeom>
        </p:spPr>
        <p:txBody>
          <a:bodyPr vert="horz">
            <a:normAutofit/>
          </a:bodyPr>
          <a:lstStyle/>
          <a:p>
            <a:pPr lvl="0" eaLnBrk="1" latinLnBrk="0" hangingPunct="1"/>
            <a:r>
              <a:rPr kumimoji="0" lang="nl-BE" smtClean="0"/>
              <a:t>Cliquez pour modifier les styles du texte du masque</a:t>
            </a:r>
          </a:p>
          <a:p>
            <a:pPr lvl="1" eaLnBrk="1" latinLnBrk="0" hangingPunct="1"/>
            <a:r>
              <a:rPr kumimoji="0" lang="nl-BE" smtClean="0"/>
              <a:t>Deuxième niveau</a:t>
            </a:r>
          </a:p>
          <a:p>
            <a:pPr lvl="2" eaLnBrk="1" latinLnBrk="0" hangingPunct="1"/>
            <a:r>
              <a:rPr kumimoji="0" lang="nl-BE" smtClean="0"/>
              <a:t>Troisième niveau</a:t>
            </a:r>
          </a:p>
          <a:p>
            <a:pPr lvl="3" eaLnBrk="1" latinLnBrk="0" hangingPunct="1"/>
            <a:r>
              <a:rPr kumimoji="0" lang="nl-BE" smtClean="0"/>
              <a:t>Quatrième niveau</a:t>
            </a:r>
          </a:p>
          <a:p>
            <a:pPr lvl="4" eaLnBrk="1" latinLnBrk="0" hangingPunct="1"/>
            <a:r>
              <a:rPr kumimoji="0" lang="nl-BE" smtClean="0"/>
              <a:t>Cinquième niveau</a:t>
            </a:r>
            <a:endParaRPr kumimoji="0" lang="en-US"/>
          </a:p>
        </p:txBody>
      </p:sp>
      <p:sp>
        <p:nvSpPr>
          <p:cNvPr id="14" name="Espace réservé de la date 13"/>
          <p:cNvSpPr>
            <a:spLocks noGrp="1"/>
          </p:cNvSpPr>
          <p:nvPr>
            <p:ph type="dt" sz="half" idx="2"/>
          </p:nvPr>
        </p:nvSpPr>
        <p:spPr>
          <a:xfrm>
            <a:off x="8128000" y="6248401"/>
            <a:ext cx="3556000" cy="365125"/>
          </a:xfrm>
          <a:prstGeom prst="rect">
            <a:avLst/>
          </a:prstGeom>
        </p:spPr>
        <p:txBody>
          <a:bodyPr vert="horz" anchor="ctr" anchorCtr="0"/>
          <a:lstStyle>
            <a:lvl1pPr algn="l" eaLnBrk="1" latinLnBrk="0" hangingPunct="1">
              <a:defRPr kumimoji="0" sz="1400">
                <a:solidFill>
                  <a:schemeClr val="tx2"/>
                </a:solidFill>
              </a:defRPr>
            </a:lvl1pPr>
          </a:lstStyle>
          <a:p>
            <a:fld id="{6AC25C69-A4E7-4E1E-B859-B06365B00D5A}" type="datetimeFigureOut">
              <a:rPr lang="fr-BE" smtClean="0"/>
              <a:pPr/>
              <a:t>3/05/2016</a:t>
            </a:fld>
            <a:endParaRPr lang="fr-BE"/>
          </a:p>
        </p:txBody>
      </p:sp>
      <p:sp>
        <p:nvSpPr>
          <p:cNvPr id="3" name="Espace réservé du pied de page 2"/>
          <p:cNvSpPr>
            <a:spLocks noGrp="1"/>
          </p:cNvSpPr>
          <p:nvPr>
            <p:ph type="ftr" sz="quarter" idx="3"/>
          </p:nvPr>
        </p:nvSpPr>
        <p:spPr>
          <a:xfrm>
            <a:off x="812801" y="6248207"/>
            <a:ext cx="7228111" cy="365125"/>
          </a:xfrm>
          <a:prstGeom prst="rect">
            <a:avLst/>
          </a:prstGeom>
        </p:spPr>
        <p:txBody>
          <a:bodyPr vert="horz" anchor="ctr"/>
          <a:lstStyle>
            <a:lvl1pPr algn="r" eaLnBrk="1" latinLnBrk="0" hangingPunct="1">
              <a:defRPr kumimoji="0" sz="1400">
                <a:solidFill>
                  <a:schemeClr val="tx2"/>
                </a:solidFill>
              </a:defRPr>
            </a:lvl1pPr>
          </a:lstStyle>
          <a:p>
            <a:endParaRPr lang="fr-BE"/>
          </a:p>
        </p:txBody>
      </p:sp>
      <p:sp>
        <p:nvSpPr>
          <p:cNvPr id="7" name="Rectangle 6"/>
          <p:cNvSpPr/>
          <p:nvPr/>
        </p:nvSpPr>
        <p:spPr bwMode="white">
          <a:xfrm>
            <a:off x="0" y="1234440"/>
            <a:ext cx="12192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0" y="1280160"/>
            <a:ext cx="7112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Rectangle 8"/>
          <p:cNvSpPr/>
          <p:nvPr/>
        </p:nvSpPr>
        <p:spPr>
          <a:xfrm>
            <a:off x="787400" y="1280160"/>
            <a:ext cx="1140460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3" name="Espace réservé du numéro de diapositive 22"/>
          <p:cNvSpPr>
            <a:spLocks noGrp="1"/>
          </p:cNvSpPr>
          <p:nvPr>
            <p:ph type="sldNum" sz="quarter" idx="4"/>
          </p:nvPr>
        </p:nvSpPr>
        <p:spPr>
          <a:xfrm>
            <a:off x="0" y="1272222"/>
            <a:ext cx="7112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8ACF05C9-3D89-464B-8034-F0039293AFE5}" type="slidenum">
              <a:rPr lang="fr-BE" smtClean="0"/>
              <a:pPr/>
              <a:t>‹#›</a:t>
            </a:fld>
            <a:endParaRPr lang="fr-BE"/>
          </a:p>
        </p:txBody>
      </p:sp>
    </p:spTree>
    <p:extLst>
      <p:ext uri="{BB962C8B-B14F-4D97-AF65-F5344CB8AC3E}">
        <p14:creationId xmlns:p14="http://schemas.microsoft.com/office/powerpoint/2010/main" xmlns="" val="31309434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normAutofit fontScale="90000"/>
          </a:bodyPr>
          <a:lstStyle/>
          <a:p>
            <a:r>
              <a:rPr lang="fr-BE" dirty="0" smtClean="0">
                <a:latin typeface="Myriad Pro" panose="020B0503030403020204" pitchFamily="34" charset="0"/>
              </a:rPr>
              <a:t>Analyse et conception d’une bases de données:</a:t>
            </a:r>
            <a:br>
              <a:rPr lang="fr-BE" dirty="0" smtClean="0">
                <a:latin typeface="Myriad Pro" panose="020B0503030403020204" pitchFamily="34" charset="0"/>
              </a:rPr>
            </a:br>
            <a:r>
              <a:rPr lang="fr-BE" dirty="0" smtClean="0">
                <a:latin typeface="Myriad Pro" panose="020B0503030403020204" pitchFamily="34" charset="0"/>
              </a:rPr>
              <a:t>le modèle entité-association</a:t>
            </a:r>
            <a:endParaRPr lang="fr-BE" dirty="0">
              <a:latin typeface="Myriad Pro" panose="020B0503030403020204" pitchFamily="34" charset="0"/>
            </a:endParaRPr>
          </a:p>
        </p:txBody>
      </p:sp>
      <p:sp>
        <p:nvSpPr>
          <p:cNvPr id="3" name="Sous-titre 2"/>
          <p:cNvSpPr>
            <a:spLocks noGrp="1"/>
          </p:cNvSpPr>
          <p:nvPr>
            <p:ph type="subTitle" idx="1"/>
          </p:nvPr>
        </p:nvSpPr>
        <p:spPr/>
        <p:txBody>
          <a:bodyPr/>
          <a:lstStyle/>
          <a:p>
            <a:r>
              <a:rPr lang="fr-BE" dirty="0" smtClean="0">
                <a:latin typeface="Myriad Pro" panose="020B0503030403020204" pitchFamily="34" charset="0"/>
              </a:rPr>
              <a:t>Prof. Dr. </a:t>
            </a:r>
            <a:r>
              <a:rPr lang="fr-BE" dirty="0" err="1" smtClean="0">
                <a:latin typeface="Myriad Pro" panose="020B0503030403020204" pitchFamily="34" charset="0"/>
              </a:rPr>
              <a:t>ir</a:t>
            </a:r>
            <a:r>
              <a:rPr lang="fr-BE" dirty="0" smtClean="0">
                <a:latin typeface="Myriad Pro" panose="020B0503030403020204" pitchFamily="34" charset="0"/>
              </a:rPr>
              <a:t>.  Stéphane Faulkner</a:t>
            </a:r>
            <a:endParaRPr lang="fr-BE" dirty="0">
              <a:latin typeface="Myriad Pro" panose="020B0503030403020204" pitchFamily="34" charset="0"/>
            </a:endParaRPr>
          </a:p>
        </p:txBody>
      </p:sp>
    </p:spTree>
    <p:extLst>
      <p:ext uri="{BB962C8B-B14F-4D97-AF65-F5344CB8AC3E}">
        <p14:creationId xmlns:p14="http://schemas.microsoft.com/office/powerpoint/2010/main" xmlns="" val="18858726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sz="4000" dirty="0" smtClean="0">
                <a:latin typeface="Myriad Pro" panose="020B0503030403020204" pitchFamily="34" charset="0"/>
                <a:cs typeface="Arial" panose="020B0604020202020204" pitchFamily="34" charset="0"/>
              </a:rPr>
              <a:t>Le modèle entité-association</a:t>
            </a:r>
            <a:endParaRPr lang="fr-BE" sz="4000" dirty="0">
              <a:latin typeface="Myriad Pro" panose="020B0503030403020204" pitchFamily="34" charset="0"/>
              <a:cs typeface="Arial" panose="020B0604020202020204" pitchFamily="34" charset="0"/>
            </a:endParaRPr>
          </a:p>
        </p:txBody>
      </p:sp>
      <p:sp>
        <p:nvSpPr>
          <p:cNvPr id="3" name="Espace réservé du contenu 2"/>
          <p:cNvSpPr>
            <a:spLocks noGrp="1"/>
          </p:cNvSpPr>
          <p:nvPr>
            <p:ph sz="quarter" idx="1"/>
          </p:nvPr>
        </p:nvSpPr>
        <p:spPr/>
        <p:txBody>
          <a:bodyPr>
            <a:normAutofit/>
          </a:bodyPr>
          <a:lstStyle/>
          <a:p>
            <a:pPr algn="just">
              <a:buClr>
                <a:schemeClr val="tx1"/>
              </a:buClr>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Le modèle EA a été créé (mi-1970) pour faciliter la communication et l’ingénierie des exigences auprès des futurs utilisateurs de la base de données (diagramme permettant de modéliser plus naturellement une structure de données par des non-informaticiens)</a:t>
            </a:r>
          </a:p>
          <a:p>
            <a:pPr algn="just">
              <a:buClr>
                <a:schemeClr val="tx1"/>
              </a:buClr>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Actuellement le modèle le plus répandu pour modéliser une base de données relationnelle</a:t>
            </a:r>
          </a:p>
          <a:p>
            <a:pPr algn="just">
              <a:buClr>
                <a:schemeClr val="tx1"/>
              </a:buClr>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Remarques:</a:t>
            </a:r>
          </a:p>
          <a:p>
            <a:pPr lvl="1" algn="just">
              <a:buClr>
                <a:schemeClr val="tx1"/>
              </a:buClr>
              <a:buSzPct val="110000"/>
              <a:buFont typeface="Arial" panose="020B0604020202020204" pitchFamily="34" charset="0"/>
              <a:buChar char="•"/>
            </a:pPr>
            <a:r>
              <a:rPr lang="fr-BE" sz="2000" dirty="0" smtClean="0">
                <a:latin typeface="Myriad Pro" panose="020B0503030403020204" pitchFamily="34" charset="0"/>
                <a:cs typeface="Arial" panose="020B0604020202020204" pitchFamily="34" charset="0"/>
              </a:rPr>
              <a:t>Pas de standard: large variété de concepts et de notations</a:t>
            </a:r>
          </a:p>
          <a:p>
            <a:pPr lvl="1" algn="just">
              <a:buClr>
                <a:schemeClr val="tx1"/>
              </a:buClr>
              <a:buSzPct val="110000"/>
              <a:buFont typeface="Arial" panose="020B0604020202020204" pitchFamily="34" charset="0"/>
              <a:buChar char="•"/>
            </a:pPr>
            <a:r>
              <a:rPr lang="fr-BE" sz="2000" dirty="0" smtClean="0">
                <a:latin typeface="Myriad Pro" panose="020B0503030403020204" pitchFamily="34" charset="0"/>
                <a:cs typeface="Arial" panose="020B0604020202020204" pitchFamily="34" charset="0"/>
              </a:rPr>
              <a:t>La sémantique de la modélisation de données est riche (algèbre, définitions formelles,…)</a:t>
            </a:r>
          </a:p>
          <a:p>
            <a:pPr lvl="1" algn="just">
              <a:buClr>
                <a:schemeClr val="tx1"/>
              </a:buClr>
              <a:buSzPct val="110000"/>
              <a:buFont typeface="Arial" panose="020B0604020202020204" pitchFamily="34" charset="0"/>
              <a:buChar char="•"/>
            </a:pPr>
            <a:r>
              <a:rPr lang="fr-BE" sz="2000" dirty="0" smtClean="0">
                <a:latin typeface="Myriad Pro" panose="020B0503030403020204" pitchFamily="34" charset="0"/>
                <a:cs typeface="Arial" panose="020B0604020202020204" pitchFamily="34" charset="0"/>
              </a:rPr>
              <a:t>Quelques évolutions dans la littérature vers des structures de données modernes (paradigme OO)</a:t>
            </a:r>
            <a:endParaRPr lang="fr-BE" sz="2000" dirty="0">
              <a:latin typeface="Myriad Pro" panose="020B0503030403020204" pitchFamily="34" charset="0"/>
              <a:cs typeface="Arial" panose="020B0604020202020204" pitchFamily="34" charset="0"/>
            </a:endParaRPr>
          </a:p>
        </p:txBody>
      </p:sp>
    </p:spTree>
    <p:extLst>
      <p:ext uri="{BB962C8B-B14F-4D97-AF65-F5344CB8AC3E}">
        <p14:creationId xmlns:p14="http://schemas.microsoft.com/office/powerpoint/2010/main" xmlns="" val="11519238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BE" sz="4000" dirty="0" smtClean="0">
                <a:latin typeface="Myriad Pro" panose="020B0503030403020204" pitchFamily="34" charset="0"/>
                <a:cs typeface="Arial" panose="020B0604020202020204" pitchFamily="34" charset="0"/>
              </a:rPr>
              <a:t>Cas d’étude: exemple d’une structure de données dans une entreprise</a:t>
            </a:r>
            <a:endParaRPr lang="fr-BE" sz="4000" dirty="0">
              <a:latin typeface="Myriad Pro" panose="020B0503030403020204" pitchFamily="34" charset="0"/>
              <a:cs typeface="Arial" panose="020B0604020202020204" pitchFamily="34" charset="0"/>
            </a:endParaRPr>
          </a:p>
        </p:txBody>
      </p:sp>
      <p:sp>
        <p:nvSpPr>
          <p:cNvPr id="3" name="Espace réservé du contenu 2"/>
          <p:cNvSpPr>
            <a:spLocks noGrp="1"/>
          </p:cNvSpPr>
          <p:nvPr>
            <p:ph sz="quarter" idx="1"/>
          </p:nvPr>
        </p:nvSpPr>
        <p:spPr>
          <a:xfrm>
            <a:off x="816864" y="1600200"/>
            <a:ext cx="10871200" cy="4955146"/>
          </a:xfrm>
        </p:spPr>
        <p:txBody>
          <a:bodyPr>
            <a:noAutofit/>
          </a:bodyPr>
          <a:lstStyle/>
          <a:p>
            <a:pPr algn="just">
              <a:buClrTx/>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L’entreprise est organisée en départements. Chaque </a:t>
            </a:r>
            <a:r>
              <a:rPr lang="fr-BE" sz="2400" dirty="0">
                <a:latin typeface="Myriad Pro" panose="020B0503030403020204" pitchFamily="34" charset="0"/>
                <a:cs typeface="Arial" panose="020B0604020202020204" pitchFamily="34" charset="0"/>
              </a:rPr>
              <a:t>département </a:t>
            </a:r>
            <a:r>
              <a:rPr lang="fr-BE" sz="2400" dirty="0" smtClean="0">
                <a:latin typeface="Myriad Pro" panose="020B0503030403020204" pitchFamily="34" charset="0"/>
                <a:cs typeface="Arial" panose="020B0604020202020204" pitchFamily="34" charset="0"/>
              </a:rPr>
              <a:t>est identifié par son nom, les employés qu’elle occupe et un employé qui en est le manager.             L’ entreprise désire garder une trace du début d’entrée en fonction du manager.</a:t>
            </a:r>
          </a:p>
          <a:p>
            <a:pPr algn="just">
              <a:buClrTx/>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Chaque département contrôle plusieurs projets. À chaque projet est attribué un nom, un numéro. Un projet ne peut être géré que par un département et est réalisé par un ou plusieurs employés.</a:t>
            </a:r>
          </a:p>
          <a:p>
            <a:pPr algn="just">
              <a:buClrTx/>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L’entreprise désire stocker pour chaque employé, son numéro de sécurité social, son adresse, son salaire, son sexe et sa date de naissance. Chaque employé travail pour un département mais peut également participer à plusieurs projets.</a:t>
            </a:r>
          </a:p>
          <a:p>
            <a:pPr algn="just">
              <a:buClrTx/>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Chaque employé peut posséder un certain nombre de liens familiaux. Pour chacune de ces personnes, l’entreprise garde son nom, son sexe, sa date de naissance et son type de relation familiale.</a:t>
            </a:r>
            <a:endParaRPr lang="fr-BE" sz="2400" dirty="0">
              <a:latin typeface="Myriad Pro" panose="020B0503030403020204" pitchFamily="34" charset="0"/>
              <a:cs typeface="Arial" panose="020B0604020202020204" pitchFamily="34" charset="0"/>
            </a:endParaRPr>
          </a:p>
        </p:txBody>
      </p:sp>
    </p:spTree>
    <p:extLst>
      <p:ext uri="{BB962C8B-B14F-4D97-AF65-F5344CB8AC3E}">
        <p14:creationId xmlns:p14="http://schemas.microsoft.com/office/powerpoint/2010/main" xmlns="" val="21214728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sz="4000" dirty="0" smtClean="0">
                <a:latin typeface="Myriad Pro" panose="020B0503030403020204" pitchFamily="34" charset="0"/>
                <a:cs typeface="Arial" panose="020B0604020202020204" pitchFamily="34" charset="0"/>
              </a:rPr>
              <a:t>Schéma entité-association de notre exemple</a:t>
            </a:r>
            <a:endParaRPr lang="fr-BE" sz="4000" dirty="0">
              <a:latin typeface="Myriad Pro" panose="020B0503030403020204" pitchFamily="34" charset="0"/>
              <a:cs typeface="Arial" panose="020B0604020202020204" pitchFamily="34" charset="0"/>
            </a:endParaRPr>
          </a:p>
        </p:txBody>
      </p:sp>
      <p:pic>
        <p:nvPicPr>
          <p:cNvPr id="4" name="Image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066352" y="1578026"/>
            <a:ext cx="6372223" cy="4899650"/>
          </a:xfrm>
          <a:prstGeom prst="rect">
            <a:avLst/>
          </a:prstGeom>
        </p:spPr>
      </p:pic>
    </p:spTree>
    <p:extLst>
      <p:ext uri="{BB962C8B-B14F-4D97-AF65-F5344CB8AC3E}">
        <p14:creationId xmlns:p14="http://schemas.microsoft.com/office/powerpoint/2010/main" xmlns="" val="29183519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sz="4000" dirty="0" smtClean="0">
                <a:latin typeface="Myriad Pro" panose="020B0503030403020204" pitchFamily="34" charset="0"/>
                <a:cs typeface="Arial" panose="020B0604020202020204" pitchFamily="34" charset="0"/>
              </a:rPr>
              <a:t>Les entités et attributs</a:t>
            </a:r>
            <a:endParaRPr lang="fr-BE" sz="4000" dirty="0">
              <a:latin typeface="Myriad Pro" panose="020B0503030403020204" pitchFamily="34" charset="0"/>
              <a:cs typeface="Arial" panose="020B0604020202020204" pitchFamily="34" charset="0"/>
            </a:endParaRPr>
          </a:p>
        </p:txBody>
      </p:sp>
      <p:sp>
        <p:nvSpPr>
          <p:cNvPr id="3" name="Espace réservé du contenu 2"/>
          <p:cNvSpPr>
            <a:spLocks noGrp="1"/>
          </p:cNvSpPr>
          <p:nvPr>
            <p:ph sz="quarter" idx="1"/>
          </p:nvPr>
        </p:nvSpPr>
        <p:spPr>
          <a:xfrm>
            <a:off x="816864" y="1600199"/>
            <a:ext cx="10871200" cy="4852115"/>
          </a:xfrm>
        </p:spPr>
        <p:txBody>
          <a:bodyPr>
            <a:noAutofit/>
          </a:bodyPr>
          <a:lstStyle/>
          <a:p>
            <a:pPr algn="just">
              <a:buClrTx/>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Une </a:t>
            </a:r>
            <a:r>
              <a:rPr lang="fr-BE" sz="2400" b="1" u="sng" dirty="0" smtClean="0">
                <a:latin typeface="Myriad Pro" panose="020B0503030403020204" pitchFamily="34" charset="0"/>
                <a:cs typeface="Arial" panose="020B0604020202020204" pitchFamily="34" charset="0"/>
              </a:rPr>
              <a:t>entité</a:t>
            </a:r>
            <a:r>
              <a:rPr lang="fr-BE" sz="2400" b="1" dirty="0" smtClean="0">
                <a:latin typeface="Myriad Pro" panose="020B0503030403020204" pitchFamily="34" charset="0"/>
                <a:cs typeface="Arial" panose="020B0604020202020204" pitchFamily="34" charset="0"/>
              </a:rPr>
              <a:t> </a:t>
            </a:r>
            <a:r>
              <a:rPr lang="fr-BE" sz="2400" dirty="0" smtClean="0">
                <a:latin typeface="Myriad Pro" panose="020B0503030403020204" pitchFamily="34" charset="0"/>
                <a:cs typeface="Arial" panose="020B0604020202020204" pitchFamily="34" charset="0"/>
              </a:rPr>
              <a:t>est un objet spécifique (une information principale) du domaine d’application qui est représenté dans la base de données</a:t>
            </a:r>
          </a:p>
          <a:p>
            <a:pPr lvl="1" algn="just">
              <a:buClrTx/>
              <a:buSzPct val="110000"/>
              <a:buFont typeface="Arial" panose="020B0604020202020204" pitchFamily="34" charset="0"/>
              <a:buChar char="•"/>
            </a:pPr>
            <a:r>
              <a:rPr lang="fr-BE" sz="2000" dirty="0" smtClean="0">
                <a:latin typeface="Myriad Pro" panose="020B0503030403020204" pitchFamily="34" charset="0"/>
                <a:cs typeface="Arial" panose="020B0604020202020204" pitchFamily="34" charset="0"/>
              </a:rPr>
              <a:t>Par exemple, EMPLOYE, DEPARTEMENT et PROJET sont des entités</a:t>
            </a:r>
          </a:p>
          <a:p>
            <a:pPr algn="just">
              <a:buClrTx/>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Un </a:t>
            </a:r>
            <a:r>
              <a:rPr lang="fr-BE" sz="2400" b="1" u="sng" dirty="0" smtClean="0">
                <a:latin typeface="Myriad Pro" panose="020B0503030403020204" pitchFamily="34" charset="0"/>
                <a:cs typeface="Arial" panose="020B0604020202020204" pitchFamily="34" charset="0"/>
              </a:rPr>
              <a:t>attribut</a:t>
            </a:r>
            <a:r>
              <a:rPr lang="fr-BE" sz="2400" dirty="0" smtClean="0">
                <a:latin typeface="Myriad Pro" panose="020B0503030403020204" pitchFamily="34" charset="0"/>
                <a:cs typeface="Arial" panose="020B0604020202020204" pitchFamily="34" charset="0"/>
              </a:rPr>
              <a:t> est une propriété qui caractérise l’information que l’on veut garder sur une entité</a:t>
            </a:r>
          </a:p>
          <a:p>
            <a:pPr lvl="1" algn="just">
              <a:buClrTx/>
              <a:buSzPct val="110000"/>
              <a:buFont typeface="Arial" panose="020B0604020202020204" pitchFamily="34" charset="0"/>
              <a:buChar char="•"/>
            </a:pPr>
            <a:r>
              <a:rPr lang="fr-BE" sz="2000" dirty="0" smtClean="0">
                <a:latin typeface="Myriad Pro" panose="020B0503030403020204" pitchFamily="34" charset="0"/>
                <a:cs typeface="Arial" panose="020B0604020202020204" pitchFamily="34" charset="0"/>
              </a:rPr>
              <a:t>Par exemple, un EMPLOYE possède les attributs: </a:t>
            </a:r>
            <a:r>
              <a:rPr lang="fr-BE" sz="2000" dirty="0">
                <a:latin typeface="Myriad Pro" panose="020B0503030403020204" pitchFamily="34" charset="0"/>
                <a:cs typeface="Arial" panose="020B0604020202020204" pitchFamily="34" charset="0"/>
              </a:rPr>
              <a:t>NSS, NOM</a:t>
            </a:r>
            <a:r>
              <a:rPr lang="fr-BE" sz="2000" dirty="0" smtClean="0">
                <a:latin typeface="Myriad Pro" panose="020B0503030403020204" pitchFamily="34" charset="0"/>
                <a:cs typeface="Arial" panose="020B0604020202020204" pitchFamily="34" charset="0"/>
              </a:rPr>
              <a:t>, ADRESSE, SEXE, DATE-NAISSANCE</a:t>
            </a:r>
          </a:p>
          <a:p>
            <a:pPr algn="just">
              <a:buClrTx/>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Une </a:t>
            </a:r>
            <a:r>
              <a:rPr lang="fr-BE" sz="2400" b="1" u="sng" dirty="0" smtClean="0">
                <a:latin typeface="Myriad Pro" panose="020B0503030403020204" pitchFamily="34" charset="0"/>
                <a:cs typeface="Arial" panose="020B0604020202020204" pitchFamily="34" charset="0"/>
              </a:rPr>
              <a:t>entité spécifique</a:t>
            </a:r>
            <a:r>
              <a:rPr lang="fr-BE" sz="2400" b="1" dirty="0" smtClean="0">
                <a:latin typeface="Myriad Pro" panose="020B0503030403020204" pitchFamily="34" charset="0"/>
                <a:cs typeface="Arial" panose="020B0604020202020204" pitchFamily="34" charset="0"/>
              </a:rPr>
              <a:t> </a:t>
            </a:r>
            <a:r>
              <a:rPr lang="fr-BE" sz="2400" dirty="0" smtClean="0">
                <a:latin typeface="Myriad Pro" panose="020B0503030403020204" pitchFamily="34" charset="0"/>
                <a:cs typeface="Arial" panose="020B0604020202020204" pitchFamily="34" charset="0"/>
              </a:rPr>
              <a:t>se voit associer une </a:t>
            </a:r>
            <a:r>
              <a:rPr lang="fr-BE" sz="2400" b="1" u="sng" dirty="0" smtClean="0">
                <a:latin typeface="Myriad Pro" panose="020B0503030403020204" pitchFamily="34" charset="0"/>
                <a:cs typeface="Arial" panose="020B0604020202020204" pitchFamily="34" charset="0"/>
              </a:rPr>
              <a:t>valeur</a:t>
            </a:r>
            <a:r>
              <a:rPr lang="fr-BE" sz="2400" b="1" dirty="0" smtClean="0">
                <a:latin typeface="Myriad Pro" panose="020B0503030403020204" pitchFamily="34" charset="0"/>
                <a:cs typeface="Arial" panose="020B0604020202020204" pitchFamily="34" charset="0"/>
              </a:rPr>
              <a:t> </a:t>
            </a:r>
            <a:r>
              <a:rPr lang="fr-BE" sz="2400" dirty="0" smtClean="0">
                <a:latin typeface="Myriad Pro" panose="020B0503030403020204" pitchFamily="34" charset="0"/>
                <a:cs typeface="Arial" panose="020B0604020202020204" pitchFamily="34" charset="0"/>
              </a:rPr>
              <a:t>(instance, occurrence) pour chacun de ces attributs</a:t>
            </a:r>
          </a:p>
          <a:p>
            <a:pPr lvl="1" algn="just">
              <a:buClrTx/>
              <a:buSzPct val="110000"/>
              <a:buFont typeface="Arial" panose="020B0604020202020204" pitchFamily="34" charset="0"/>
              <a:buChar char="•"/>
            </a:pPr>
            <a:r>
              <a:rPr lang="fr-BE" sz="2000" dirty="0" smtClean="0">
                <a:latin typeface="Myriad Pro" panose="020B0503030403020204" pitchFamily="34" charset="0"/>
                <a:cs typeface="Arial" panose="020B0604020202020204" pitchFamily="34" charset="0"/>
              </a:rPr>
              <a:t>Par exemple, pour un employé spécifique: NOM = ‘John Smith’, NSS = ‘123456789’, ADRESSE = ‘731, </a:t>
            </a:r>
            <a:r>
              <a:rPr lang="fr-BE" sz="2000" dirty="0" err="1" smtClean="0">
                <a:latin typeface="Myriad Pro" panose="020B0503030403020204" pitchFamily="34" charset="0"/>
                <a:cs typeface="Arial" panose="020B0604020202020204" pitchFamily="34" charset="0"/>
              </a:rPr>
              <a:t>Fondren</a:t>
            </a:r>
            <a:r>
              <a:rPr lang="fr-BE" sz="2000" dirty="0" smtClean="0">
                <a:latin typeface="Myriad Pro" panose="020B0503030403020204" pitchFamily="34" charset="0"/>
                <a:cs typeface="Arial" panose="020B0604020202020204" pitchFamily="34" charset="0"/>
              </a:rPr>
              <a:t>, Houston, TX’,  SEXE = ‘M’,  DATE-NAISSANCE = ‘09-JAN-55’</a:t>
            </a:r>
          </a:p>
          <a:p>
            <a:pPr algn="just">
              <a:buClrTx/>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Chaque attribut possède un </a:t>
            </a:r>
            <a:r>
              <a:rPr lang="fr-BE" sz="2400" b="1" u="sng" dirty="0" smtClean="0">
                <a:latin typeface="Myriad Pro" panose="020B0503030403020204" pitchFamily="34" charset="0"/>
                <a:cs typeface="Arial" panose="020B0604020202020204" pitchFamily="34" charset="0"/>
              </a:rPr>
              <a:t>type de valeur</a:t>
            </a:r>
            <a:r>
              <a:rPr lang="fr-BE" sz="2400" b="1" dirty="0" smtClean="0">
                <a:latin typeface="Myriad Pro" panose="020B0503030403020204" pitchFamily="34" charset="0"/>
                <a:cs typeface="Arial" panose="020B0604020202020204" pitchFamily="34" charset="0"/>
              </a:rPr>
              <a:t> </a:t>
            </a:r>
            <a:r>
              <a:rPr lang="fr-BE" sz="2400" dirty="0" smtClean="0">
                <a:latin typeface="Myriad Pro" panose="020B0503030403020204" pitchFamily="34" charset="0"/>
                <a:cs typeface="Arial" panose="020B0604020202020204" pitchFamily="34" charset="0"/>
              </a:rPr>
              <a:t>associé: (</a:t>
            </a:r>
            <a:r>
              <a:rPr lang="fr-BE" sz="2400" dirty="0" err="1" smtClean="0">
                <a:latin typeface="Myriad Pro" panose="020B0503030403020204" pitchFamily="34" charset="0"/>
                <a:cs typeface="Arial" panose="020B0604020202020204" pitchFamily="34" charset="0"/>
              </a:rPr>
              <a:t>integer</a:t>
            </a:r>
            <a:r>
              <a:rPr lang="fr-BE" sz="2400" dirty="0" smtClean="0">
                <a:latin typeface="Myriad Pro" panose="020B0503030403020204" pitchFamily="34" charset="0"/>
                <a:cs typeface="Arial" panose="020B0604020202020204" pitchFamily="34" charset="0"/>
              </a:rPr>
              <a:t>, string, </a:t>
            </a:r>
            <a:r>
              <a:rPr lang="fr-BE" sz="2400" dirty="0" err="1" smtClean="0">
                <a:latin typeface="Myriad Pro" panose="020B0503030403020204" pitchFamily="34" charset="0"/>
                <a:cs typeface="Arial" panose="020B0604020202020204" pitchFamily="34" charset="0"/>
              </a:rPr>
              <a:t>subrange</a:t>
            </a:r>
            <a:r>
              <a:rPr lang="fr-BE" sz="2400" dirty="0" smtClean="0">
                <a:latin typeface="Myriad Pro" panose="020B0503030403020204" pitchFamily="34" charset="0"/>
                <a:cs typeface="Arial" panose="020B0604020202020204" pitchFamily="34" charset="0"/>
              </a:rPr>
              <a:t>, </a:t>
            </a:r>
            <a:r>
              <a:rPr lang="fr-BE" sz="2400" dirty="0" err="1" smtClean="0">
                <a:latin typeface="Myriad Pro" panose="020B0503030403020204" pitchFamily="34" charset="0"/>
                <a:cs typeface="Arial" panose="020B0604020202020204" pitchFamily="34" charset="0"/>
              </a:rPr>
              <a:t>enumerated</a:t>
            </a:r>
            <a:r>
              <a:rPr lang="fr-BE" sz="2400" dirty="0" smtClean="0">
                <a:latin typeface="Myriad Pro" panose="020B0503030403020204" pitchFamily="34" charset="0"/>
                <a:cs typeface="Arial" panose="020B0604020202020204" pitchFamily="34" charset="0"/>
              </a:rPr>
              <a:t>, …)</a:t>
            </a:r>
            <a:endParaRPr lang="fr-BE" sz="2400" b="1" dirty="0">
              <a:latin typeface="Myriad Pro" panose="020B0503030403020204" pitchFamily="34" charset="0"/>
              <a:cs typeface="Arial" panose="020B0604020202020204" pitchFamily="34" charset="0"/>
            </a:endParaRPr>
          </a:p>
        </p:txBody>
      </p:sp>
    </p:spTree>
    <p:extLst>
      <p:ext uri="{BB962C8B-B14F-4D97-AF65-F5344CB8AC3E}">
        <p14:creationId xmlns:p14="http://schemas.microsoft.com/office/powerpoint/2010/main" xmlns="" val="37887846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sz="4000" dirty="0" smtClean="0">
                <a:latin typeface="Myriad Pro" panose="020B0503030403020204" pitchFamily="34" charset="0"/>
                <a:cs typeface="Arial" panose="020B0604020202020204" pitchFamily="34" charset="0"/>
              </a:rPr>
              <a:t>Types d’attributs</a:t>
            </a:r>
            <a:endParaRPr lang="fr-BE" sz="4000" dirty="0">
              <a:latin typeface="Myriad Pro" panose="020B0503030403020204" pitchFamily="34" charset="0"/>
              <a:cs typeface="Arial" panose="020B0604020202020204" pitchFamily="34" charset="0"/>
            </a:endParaRPr>
          </a:p>
        </p:txBody>
      </p:sp>
      <p:sp>
        <p:nvSpPr>
          <p:cNvPr id="3" name="Espace réservé du contenu 2"/>
          <p:cNvSpPr>
            <a:spLocks noGrp="1"/>
          </p:cNvSpPr>
          <p:nvPr>
            <p:ph sz="quarter" idx="1"/>
          </p:nvPr>
        </p:nvSpPr>
        <p:spPr/>
        <p:txBody>
          <a:bodyPr>
            <a:noAutofit/>
          </a:bodyPr>
          <a:lstStyle/>
          <a:p>
            <a:pPr>
              <a:buClr>
                <a:schemeClr val="tx1"/>
              </a:buClr>
              <a:buSzPct val="110000"/>
              <a:buFont typeface="Arial" panose="020B0604020202020204" pitchFamily="34" charset="0"/>
              <a:buChar char="•"/>
            </a:pPr>
            <a:r>
              <a:rPr lang="fr-BE" sz="2400" b="1" u="sng" dirty="0" smtClean="0">
                <a:latin typeface="Myriad Pro" panose="020B0503030403020204" pitchFamily="34" charset="0"/>
                <a:cs typeface="Arial" panose="020B0604020202020204" pitchFamily="34" charset="0"/>
              </a:rPr>
              <a:t>Simple</a:t>
            </a:r>
            <a:r>
              <a:rPr lang="fr-BE" sz="2400" dirty="0" smtClean="0">
                <a:latin typeface="Myriad Pro" panose="020B0503030403020204" pitchFamily="34" charset="0"/>
                <a:cs typeface="Arial" panose="020B0604020202020204" pitchFamily="34" charset="0"/>
              </a:rPr>
              <a:t>: chaque instance de cet attribut possède une valeur atomique simple</a:t>
            </a:r>
          </a:p>
          <a:p>
            <a:pPr lvl="1">
              <a:buClr>
                <a:schemeClr val="tx1"/>
              </a:buClr>
              <a:buSzPct val="110000"/>
              <a:buFont typeface="Arial" panose="020B0604020202020204" pitchFamily="34" charset="0"/>
              <a:buChar char="•"/>
            </a:pPr>
            <a:r>
              <a:rPr lang="fr-BE" sz="2000" dirty="0" smtClean="0">
                <a:latin typeface="Myriad Pro" panose="020B0503030403020204" pitchFamily="34" charset="0"/>
                <a:cs typeface="Arial" panose="020B0604020202020204" pitchFamily="34" charset="0"/>
              </a:rPr>
              <a:t>Ex: SEXE, NSS</a:t>
            </a:r>
          </a:p>
          <a:p>
            <a:pPr>
              <a:buClr>
                <a:schemeClr val="tx1"/>
              </a:buClr>
              <a:buSzPct val="110000"/>
              <a:buFont typeface="Arial" panose="020B0604020202020204" pitchFamily="34" charset="0"/>
              <a:buChar char="•"/>
            </a:pPr>
            <a:r>
              <a:rPr lang="fr-BE" sz="2400" b="1" u="sng" dirty="0" smtClean="0">
                <a:latin typeface="Myriad Pro" panose="020B0503030403020204" pitchFamily="34" charset="0"/>
                <a:cs typeface="Arial" panose="020B0604020202020204" pitchFamily="34" charset="0"/>
              </a:rPr>
              <a:t>Composite</a:t>
            </a:r>
            <a:r>
              <a:rPr lang="fr-BE" sz="2400" dirty="0" smtClean="0">
                <a:latin typeface="Myriad Pro" panose="020B0503030403020204" pitchFamily="34" charset="0"/>
                <a:cs typeface="Arial" panose="020B0604020202020204" pitchFamily="34" charset="0"/>
              </a:rPr>
              <a:t>: l’attribut se compose lui-même d’autres attributs</a:t>
            </a:r>
          </a:p>
          <a:p>
            <a:pPr lvl="1">
              <a:buClr>
                <a:schemeClr val="tx1"/>
              </a:buClr>
              <a:buSzPct val="110000"/>
              <a:buFont typeface="Arial" panose="020B0604020202020204" pitchFamily="34" charset="0"/>
              <a:buChar char="•"/>
            </a:pPr>
            <a:r>
              <a:rPr lang="fr-BE" sz="2000" dirty="0" smtClean="0">
                <a:latin typeface="Myriad Pro" panose="020B0503030403020204" pitchFamily="34" charset="0"/>
                <a:cs typeface="Arial" panose="020B0604020202020204" pitchFamily="34" charset="0"/>
              </a:rPr>
              <a:t>Ex: ADRESSE (Rue, </a:t>
            </a:r>
            <a:r>
              <a:rPr lang="fr-BE" sz="2000" dirty="0" err="1" smtClean="0">
                <a:latin typeface="Myriad Pro" panose="020B0503030403020204" pitchFamily="34" charset="0"/>
                <a:cs typeface="Arial" panose="020B0604020202020204" pitchFamily="34" charset="0"/>
              </a:rPr>
              <a:t>Code_Postal</a:t>
            </a:r>
            <a:r>
              <a:rPr lang="fr-BE" sz="2000" dirty="0" smtClean="0">
                <a:latin typeface="Myriad Pro" panose="020B0503030403020204" pitchFamily="34" charset="0"/>
                <a:cs typeface="Arial" panose="020B0604020202020204" pitchFamily="34" charset="0"/>
              </a:rPr>
              <a:t>, </a:t>
            </a:r>
            <a:r>
              <a:rPr lang="fr-BE" sz="2000" dirty="0">
                <a:latin typeface="Myriad Pro" panose="020B0503030403020204" pitchFamily="34" charset="0"/>
                <a:cs typeface="Arial" panose="020B0604020202020204" pitchFamily="34" charset="0"/>
              </a:rPr>
              <a:t>Ville, </a:t>
            </a:r>
            <a:r>
              <a:rPr lang="fr-BE" sz="2000" dirty="0" smtClean="0">
                <a:latin typeface="Myriad Pro" panose="020B0503030403020204" pitchFamily="34" charset="0"/>
                <a:cs typeface="Arial" panose="020B0604020202020204" pitchFamily="34" charset="0"/>
              </a:rPr>
              <a:t>Pays)</a:t>
            </a:r>
          </a:p>
          <a:p>
            <a:pPr>
              <a:buClr>
                <a:schemeClr val="tx1"/>
              </a:buClr>
              <a:buSzPct val="110000"/>
              <a:buFont typeface="Arial" panose="020B0604020202020204" pitchFamily="34" charset="0"/>
              <a:buChar char="•"/>
            </a:pPr>
            <a:r>
              <a:rPr lang="fr-BE" sz="2400" b="1" u="sng" dirty="0" smtClean="0">
                <a:latin typeface="Myriad Pro" panose="020B0503030403020204" pitchFamily="34" charset="0"/>
                <a:cs typeface="Arial" panose="020B0604020202020204" pitchFamily="34" charset="0"/>
              </a:rPr>
              <a:t>Multi-valeurs</a:t>
            </a:r>
            <a:r>
              <a:rPr lang="fr-BE" sz="2400" dirty="0" smtClean="0">
                <a:latin typeface="Myriad Pro" panose="020B0503030403020204" pitchFamily="34" charset="0"/>
                <a:cs typeface="Arial" panose="020B0604020202020204" pitchFamily="34" charset="0"/>
              </a:rPr>
              <a:t>: </a:t>
            </a:r>
            <a:r>
              <a:rPr lang="fr-BE" sz="2400" dirty="0">
                <a:latin typeface="Myriad Pro" panose="020B0503030403020204" pitchFamily="34" charset="0"/>
                <a:cs typeface="Arial" panose="020B0604020202020204" pitchFamily="34" charset="0"/>
              </a:rPr>
              <a:t>chaque instance de cet attribut </a:t>
            </a:r>
            <a:r>
              <a:rPr lang="fr-BE" sz="2400" dirty="0" smtClean="0">
                <a:latin typeface="Myriad Pro" panose="020B0503030403020204" pitchFamily="34" charset="0"/>
                <a:cs typeface="Arial" panose="020B0604020202020204" pitchFamily="34" charset="0"/>
              </a:rPr>
              <a:t>peut posséder une ou plusieurs valeurs </a:t>
            </a:r>
          </a:p>
          <a:p>
            <a:pPr lvl="1">
              <a:buClr>
                <a:schemeClr val="tx1"/>
              </a:buClr>
              <a:buSzPct val="110000"/>
              <a:buFont typeface="Arial" panose="020B0604020202020204" pitchFamily="34" charset="0"/>
              <a:buChar char="•"/>
            </a:pPr>
            <a:r>
              <a:rPr lang="fr-BE" sz="2000" dirty="0" smtClean="0">
                <a:latin typeface="Myriad Pro" panose="020B0503030403020204" pitchFamily="34" charset="0"/>
                <a:cs typeface="Arial" panose="020B0604020202020204" pitchFamily="34" charset="0"/>
              </a:rPr>
              <a:t>Ex: TELEPHONE - une personne peut posséder plusieurs numéros pour être accessible</a:t>
            </a:r>
          </a:p>
          <a:p>
            <a:pPr>
              <a:buClr>
                <a:schemeClr val="tx1"/>
              </a:buClr>
              <a:buSzPct val="110000"/>
              <a:buFont typeface="Arial" panose="020B0604020202020204" pitchFamily="34" charset="0"/>
              <a:buChar char="•"/>
            </a:pPr>
            <a:r>
              <a:rPr lang="fr-BE" sz="2300" b="1" u="sng" dirty="0" smtClean="0">
                <a:latin typeface="Myriad Pro" panose="020B0503030403020204" pitchFamily="34" charset="0"/>
                <a:cs typeface="Arial" panose="020B0604020202020204" pitchFamily="34" charset="0"/>
              </a:rPr>
              <a:t>Optionnel</a:t>
            </a:r>
            <a:r>
              <a:rPr lang="fr-BE" sz="2300" b="1" dirty="0" smtClean="0">
                <a:latin typeface="Myriad Pro" panose="020B0503030403020204" pitchFamily="34" charset="0"/>
                <a:cs typeface="Arial" panose="020B0604020202020204" pitchFamily="34" charset="0"/>
              </a:rPr>
              <a:t>: </a:t>
            </a:r>
            <a:r>
              <a:rPr lang="fr-BE" sz="2300" dirty="0" smtClean="0">
                <a:latin typeface="Myriad Pro" panose="020B0503030403020204" pitchFamily="34" charset="0"/>
                <a:cs typeface="Arial" panose="020B0604020202020204" pitchFamily="34" charset="0"/>
              </a:rPr>
              <a:t>l’attribut n’a pas obligatoirement une valeur qui lui est associée   </a:t>
            </a:r>
          </a:p>
          <a:p>
            <a:pPr lvl="1">
              <a:buClr>
                <a:schemeClr val="tx1"/>
              </a:buClr>
              <a:buSzPct val="110000"/>
              <a:buFont typeface="Arial" panose="020B0604020202020204" pitchFamily="34" charset="0"/>
              <a:buChar char="•"/>
            </a:pPr>
            <a:r>
              <a:rPr lang="fr-BE" sz="2000" dirty="0" smtClean="0">
                <a:latin typeface="Myriad Pro" panose="020B0503030403020204" pitchFamily="34" charset="0"/>
                <a:cs typeface="Arial" panose="020B0604020202020204" pitchFamily="34" charset="0"/>
              </a:rPr>
              <a:t>Ex: NUMERO_GSM – chaque personne n’a pas obligatoirement un </a:t>
            </a:r>
            <a:r>
              <a:rPr lang="fr-BE" sz="2000" dirty="0" err="1" smtClean="0">
                <a:latin typeface="Myriad Pro" panose="020B0503030403020204" pitchFamily="34" charset="0"/>
                <a:cs typeface="Arial" panose="020B0604020202020204" pitchFamily="34" charset="0"/>
              </a:rPr>
              <a:t>gsm</a:t>
            </a:r>
            <a:endParaRPr lang="fr-BE" sz="2000" dirty="0" smtClean="0">
              <a:latin typeface="Myriad Pro" panose="020B0503030403020204" pitchFamily="34" charset="0"/>
              <a:cs typeface="Arial" panose="020B0604020202020204" pitchFamily="34" charset="0"/>
            </a:endParaRPr>
          </a:p>
        </p:txBody>
      </p:sp>
    </p:spTree>
    <p:extLst>
      <p:ext uri="{BB962C8B-B14F-4D97-AF65-F5344CB8AC3E}">
        <p14:creationId xmlns:p14="http://schemas.microsoft.com/office/powerpoint/2010/main" xmlns="" val="8200252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sz="4000" dirty="0">
                <a:latin typeface="Myriad Pro" panose="020B0503030403020204" pitchFamily="34" charset="0"/>
              </a:rPr>
              <a:t>I</a:t>
            </a:r>
            <a:r>
              <a:rPr lang="fr-BE" sz="4000" dirty="0" smtClean="0">
                <a:latin typeface="Myriad Pro" panose="020B0503030403020204" pitchFamily="34" charset="0"/>
              </a:rPr>
              <a:t>dentifiant</a:t>
            </a:r>
            <a:endParaRPr lang="fr-BE" sz="4000" dirty="0">
              <a:latin typeface="Myriad Pro" panose="020B0503030403020204" pitchFamily="34" charset="0"/>
            </a:endParaRPr>
          </a:p>
        </p:txBody>
      </p:sp>
      <p:sp>
        <p:nvSpPr>
          <p:cNvPr id="3" name="Espace réservé du contenu 2"/>
          <p:cNvSpPr>
            <a:spLocks noGrp="1"/>
          </p:cNvSpPr>
          <p:nvPr>
            <p:ph sz="quarter" idx="1"/>
          </p:nvPr>
        </p:nvSpPr>
        <p:spPr/>
        <p:txBody>
          <a:bodyPr/>
          <a:lstStyle/>
          <a:p>
            <a:pPr algn="just">
              <a:buClrTx/>
              <a:buSzPct val="110000"/>
              <a:buFont typeface="Arial" panose="020B0604020202020204" pitchFamily="34" charset="0"/>
              <a:buChar char="•"/>
            </a:pPr>
            <a:r>
              <a:rPr lang="fr-FR" sz="2400" b="1" u="sng" dirty="0" smtClean="0">
                <a:latin typeface="Myriad Pro" panose="020B0503030403020204" pitchFamily="34" charset="0"/>
                <a:cs typeface="Arial" panose="020B0604020202020204" pitchFamily="34" charset="0"/>
              </a:rPr>
              <a:t>Identifiant</a:t>
            </a:r>
            <a:r>
              <a:rPr lang="fr-FR" sz="2400" dirty="0" smtClean="0">
                <a:latin typeface="Myriad Pro" panose="020B0503030403020204" pitchFamily="34" charset="0"/>
                <a:cs typeface="Arial" panose="020B0604020202020204" pitchFamily="34" charset="0"/>
              </a:rPr>
              <a:t> </a:t>
            </a:r>
            <a:r>
              <a:rPr lang="fr-FR" sz="2400" dirty="0">
                <a:latin typeface="Myriad Pro" panose="020B0503030403020204" pitchFamily="34" charset="0"/>
                <a:cs typeface="Arial" panose="020B0604020202020204" pitchFamily="34" charset="0"/>
              </a:rPr>
              <a:t>(ou clé</a:t>
            </a:r>
            <a:r>
              <a:rPr lang="fr-FR" sz="2400" dirty="0" smtClean="0">
                <a:latin typeface="Myriad Pro" panose="020B0503030403020204" pitchFamily="34" charset="0"/>
                <a:cs typeface="Arial" panose="020B0604020202020204" pitchFamily="34" charset="0"/>
              </a:rPr>
              <a:t>): </a:t>
            </a:r>
            <a:r>
              <a:rPr lang="fr-FR" sz="2400" dirty="0">
                <a:latin typeface="Myriad Pro" panose="020B0503030403020204" pitchFamily="34" charset="0"/>
                <a:cs typeface="Arial" panose="020B0604020202020204" pitchFamily="34" charset="0"/>
              </a:rPr>
              <a:t>attribut ou </a:t>
            </a:r>
            <a:r>
              <a:rPr lang="fr-FR" sz="2400" dirty="0" smtClean="0">
                <a:latin typeface="Myriad Pro" panose="020B0503030403020204" pitchFamily="34" charset="0"/>
                <a:cs typeface="Arial" panose="020B0604020202020204" pitchFamily="34" charset="0"/>
              </a:rPr>
              <a:t>ensemble d’attributs d’une entité E permettant </a:t>
            </a:r>
            <a:r>
              <a:rPr lang="fr-FR" sz="2400" dirty="0">
                <a:latin typeface="Myriad Pro" panose="020B0503030403020204" pitchFamily="34" charset="0"/>
                <a:cs typeface="Arial" panose="020B0604020202020204" pitchFamily="34" charset="0"/>
              </a:rPr>
              <a:t>de </a:t>
            </a:r>
            <a:r>
              <a:rPr lang="fr-FR" sz="2400" dirty="0" smtClean="0">
                <a:latin typeface="Myriad Pro" panose="020B0503030403020204" pitchFamily="34" charset="0"/>
                <a:cs typeface="Arial" panose="020B0604020202020204" pitchFamily="34" charset="0"/>
              </a:rPr>
              <a:t>déterminer de manière unique chaque </a:t>
            </a:r>
            <a:r>
              <a:rPr lang="fr-FR" sz="2400" dirty="0">
                <a:latin typeface="Myriad Pro" panose="020B0503030403020204" pitchFamily="34" charset="0"/>
                <a:cs typeface="Arial" panose="020B0604020202020204" pitchFamily="34" charset="0"/>
              </a:rPr>
              <a:t>instance de </a:t>
            </a:r>
            <a:r>
              <a:rPr lang="fr-FR" sz="2400" dirty="0" smtClean="0">
                <a:latin typeface="Myriad Pro" panose="020B0503030403020204" pitchFamily="34" charset="0"/>
                <a:cs typeface="Arial" panose="020B0604020202020204" pitchFamily="34" charset="0"/>
              </a:rPr>
              <a:t>E</a:t>
            </a:r>
            <a:endParaRPr lang="fr-FR" sz="2400" dirty="0">
              <a:latin typeface="Myriad Pro" panose="020B0503030403020204" pitchFamily="34" charset="0"/>
              <a:cs typeface="Arial" panose="020B0604020202020204" pitchFamily="34" charset="0"/>
            </a:endParaRPr>
          </a:p>
          <a:p>
            <a:pPr algn="just">
              <a:buClrTx/>
              <a:buSzPct val="110000"/>
              <a:buFont typeface="Arial" panose="020B0604020202020204" pitchFamily="34" charset="0"/>
              <a:buChar char="•"/>
            </a:pPr>
            <a:r>
              <a:rPr lang="fr-FR" sz="2400" b="1" u="sng" dirty="0">
                <a:latin typeface="Myriad Pro" panose="020B0503030403020204" pitchFamily="34" charset="0"/>
                <a:cs typeface="Arial" panose="020B0604020202020204" pitchFamily="34" charset="0"/>
              </a:rPr>
              <a:t>Contrainte d’unicité</a:t>
            </a:r>
            <a:r>
              <a:rPr lang="fr-FR" sz="2400" dirty="0">
                <a:latin typeface="Myriad Pro" panose="020B0503030403020204" pitchFamily="34" charset="0"/>
                <a:cs typeface="Arial" panose="020B0604020202020204" pitchFamily="34" charset="0"/>
              </a:rPr>
              <a:t>: </a:t>
            </a:r>
            <a:r>
              <a:rPr lang="fr-FR" sz="2400" dirty="0" smtClean="0">
                <a:latin typeface="Myriad Pro" panose="020B0503030403020204" pitchFamily="34" charset="0"/>
                <a:cs typeface="Arial" panose="020B0604020202020204" pitchFamily="34" charset="0"/>
              </a:rPr>
              <a:t>contraint la valeur associée à un attribut d’une entité E à être unique pour l’ensemble des instances de E</a:t>
            </a:r>
            <a:endParaRPr lang="fr-FR" sz="2400" dirty="0">
              <a:latin typeface="Myriad Pro" panose="020B0503030403020204" pitchFamily="34" charset="0"/>
              <a:cs typeface="Arial" panose="020B0604020202020204" pitchFamily="34" charset="0"/>
            </a:endParaRPr>
          </a:p>
          <a:p>
            <a:pPr algn="just">
              <a:buClrTx/>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Certaines entités peuvent avoir plusieurs identifiants : </a:t>
            </a:r>
            <a:r>
              <a:rPr lang="fr-BE" sz="2400" dirty="0" err="1" smtClean="0">
                <a:latin typeface="Myriad Pro" panose="020B0503030403020204" pitchFamily="34" charset="0"/>
                <a:cs typeface="Arial" panose="020B0604020202020204" pitchFamily="34" charset="0"/>
              </a:rPr>
              <a:t>NumTVA</a:t>
            </a:r>
            <a:r>
              <a:rPr lang="fr-BE" sz="2400" dirty="0" smtClean="0">
                <a:latin typeface="Myriad Pro" panose="020B0503030403020204" pitchFamily="34" charset="0"/>
                <a:cs typeface="Arial" panose="020B0604020202020204" pitchFamily="34" charset="0"/>
              </a:rPr>
              <a:t> est identifiant, Nom est clé secondaire </a:t>
            </a:r>
          </a:p>
          <a:p>
            <a:endParaRPr lang="fr-BE" dirty="0" smtClean="0">
              <a:latin typeface="Myriad Pro" panose="020B0503030403020204" pitchFamily="34" charset="0"/>
            </a:endParaRPr>
          </a:p>
          <a:p>
            <a:endParaRPr lang="fr-BE" dirty="0" smtClean="0">
              <a:latin typeface="Myriad Pro" panose="020B0503030403020204" pitchFamily="34" charset="0"/>
            </a:endParaRPr>
          </a:p>
          <a:p>
            <a:pPr marL="0" indent="0">
              <a:buNone/>
            </a:pPr>
            <a:endParaRPr lang="fr-BE" dirty="0" smtClean="0">
              <a:latin typeface="Myriad Pro" panose="020B0503030403020204" pitchFamily="34" charset="0"/>
            </a:endParaRPr>
          </a:p>
        </p:txBody>
      </p:sp>
      <p:graphicFrame>
        <p:nvGraphicFramePr>
          <p:cNvPr id="4" name="Tableau 3"/>
          <p:cNvGraphicFramePr>
            <a:graphicFrameLocks noGrp="1"/>
          </p:cNvGraphicFramePr>
          <p:nvPr>
            <p:extLst>
              <p:ext uri="{D42A27DB-BD31-4B8C-83A1-F6EECF244321}">
                <p14:modId xmlns:p14="http://schemas.microsoft.com/office/powerpoint/2010/main" xmlns="" val="2456933054"/>
              </p:ext>
            </p:extLst>
          </p:nvPr>
        </p:nvGraphicFramePr>
        <p:xfrm>
          <a:off x="5079365" y="4215133"/>
          <a:ext cx="1553255" cy="1554480"/>
        </p:xfrm>
        <a:graphic>
          <a:graphicData uri="http://schemas.openxmlformats.org/drawingml/2006/table">
            <a:tbl>
              <a:tblPr firstRow="1" bandRow="1">
                <a:tableStyleId>{5C22544A-7EE6-4342-B048-85BDC9FD1C3A}</a:tableStyleId>
              </a:tblPr>
              <a:tblGrid>
                <a:gridCol w="1553255">
                  <a:extLst>
                    <a:ext uri="{9D8B030D-6E8A-4147-A177-3AD203B41FA5}">
                      <a16:colId xmlns:a16="http://schemas.microsoft.com/office/drawing/2014/main" xmlns="" val="20000"/>
                    </a:ext>
                  </a:extLst>
                </a:gridCol>
              </a:tblGrid>
              <a:tr h="358502">
                <a:tc>
                  <a:txBody>
                    <a:bodyPr/>
                    <a:lstStyle/>
                    <a:p>
                      <a:pPr algn="ctr"/>
                      <a:r>
                        <a:rPr lang="fr-BE" dirty="0" err="1" smtClean="0">
                          <a:latin typeface="Minion Pro" panose="02040503050201020203" pitchFamily="18" charset="0"/>
                        </a:rPr>
                        <a:t>Entrepise</a:t>
                      </a:r>
                      <a:endParaRPr lang="fr-BE" dirty="0">
                        <a:latin typeface="Minion Pro" panose="02040503050201020203" pitchFamily="18" charset="0"/>
                      </a:endParaRPr>
                    </a:p>
                  </a:txBody>
                  <a:tcPr/>
                </a:tc>
                <a:extLst>
                  <a:ext uri="{0D108BD9-81ED-4DB2-BD59-A6C34878D82A}">
                    <a16:rowId xmlns:a16="http://schemas.microsoft.com/office/drawing/2014/main" xmlns="" val="10000"/>
                  </a:ext>
                </a:extLst>
              </a:tr>
              <a:tr h="1149169">
                <a:tc>
                  <a:txBody>
                    <a:bodyPr/>
                    <a:lstStyle/>
                    <a:p>
                      <a:pPr algn="l"/>
                      <a:r>
                        <a:rPr lang="fr-BE" u="sng" dirty="0" err="1" smtClean="0">
                          <a:latin typeface="Minion Pro" panose="02040503050201020203" pitchFamily="18" charset="0"/>
                        </a:rPr>
                        <a:t>NumTVA</a:t>
                      </a:r>
                      <a:endParaRPr lang="fr-BE" u="sng" dirty="0" smtClean="0">
                        <a:latin typeface="Minion Pro" panose="02040503050201020203" pitchFamily="18" charset="0"/>
                      </a:endParaRPr>
                    </a:p>
                    <a:p>
                      <a:pPr algn="l"/>
                      <a:r>
                        <a:rPr lang="fr-BE" u="sng" dirty="0" smtClean="0">
                          <a:latin typeface="Minion Pro" panose="02040503050201020203" pitchFamily="18" charset="0"/>
                        </a:rPr>
                        <a:t>Nom</a:t>
                      </a:r>
                    </a:p>
                    <a:p>
                      <a:pPr algn="l"/>
                      <a:r>
                        <a:rPr lang="fr-BE" dirty="0" smtClean="0">
                          <a:latin typeface="Minion Pro" panose="02040503050201020203" pitchFamily="18" charset="0"/>
                        </a:rPr>
                        <a:t>Adresse</a:t>
                      </a:r>
                    </a:p>
                    <a:p>
                      <a:pPr algn="l"/>
                      <a:r>
                        <a:rPr lang="fr-BE" dirty="0" smtClean="0">
                          <a:latin typeface="Minion Pro" panose="02040503050201020203" pitchFamily="18" charset="0"/>
                        </a:rPr>
                        <a:t>Téléphone</a:t>
                      </a:r>
                      <a:endParaRPr lang="fr-BE" dirty="0">
                        <a:latin typeface="Minion Pro" panose="02040503050201020203" pitchFamily="18" charset="0"/>
                      </a:endParaRPr>
                    </a:p>
                  </a:txBody>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xmlns="" val="13389347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sz="4000" dirty="0" smtClean="0">
                <a:latin typeface="Myriad Pro" panose="020B0503030403020204" pitchFamily="34" charset="0"/>
                <a:cs typeface="Arial" panose="020B0604020202020204" pitchFamily="34" charset="0"/>
              </a:rPr>
              <a:t>Association</a:t>
            </a:r>
            <a:endParaRPr lang="fr-BE" sz="4000" dirty="0">
              <a:latin typeface="Myriad Pro" panose="020B0503030403020204" pitchFamily="34" charset="0"/>
              <a:cs typeface="Arial" panose="020B0604020202020204" pitchFamily="34" charset="0"/>
            </a:endParaRPr>
          </a:p>
        </p:txBody>
      </p:sp>
      <p:sp>
        <p:nvSpPr>
          <p:cNvPr id="3" name="Espace réservé du contenu 2"/>
          <p:cNvSpPr>
            <a:spLocks noGrp="1"/>
          </p:cNvSpPr>
          <p:nvPr>
            <p:ph sz="quarter" idx="1"/>
          </p:nvPr>
        </p:nvSpPr>
        <p:spPr/>
        <p:txBody>
          <a:bodyPr/>
          <a:lstStyle/>
          <a:p>
            <a:pPr algn="just">
              <a:buClrTx/>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Une association relie sémantiquement des entités distinctes </a:t>
            </a:r>
          </a:p>
          <a:p>
            <a:pPr algn="just">
              <a:buClrTx/>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Le type de l’association correspond au nombre d’entités participantes: unaire, binaire, </a:t>
            </a:r>
            <a:r>
              <a:rPr lang="fr-BE" sz="2400" dirty="0" err="1" smtClean="0">
                <a:latin typeface="Myriad Pro" panose="020B0503030403020204" pitchFamily="34" charset="0"/>
                <a:cs typeface="Arial" panose="020B0604020202020204" pitchFamily="34" charset="0"/>
              </a:rPr>
              <a:t>N-aire</a:t>
            </a:r>
            <a:endParaRPr lang="fr-BE" sz="2400" dirty="0" smtClean="0">
              <a:latin typeface="Myriad Pro" panose="020B0503030403020204" pitchFamily="34" charset="0"/>
              <a:cs typeface="Arial" panose="020B0604020202020204" pitchFamily="34" charset="0"/>
            </a:endParaRPr>
          </a:p>
          <a:p>
            <a:pPr algn="just">
              <a:buClrTx/>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Plusieurs associations peuvent relier les mêmes entités</a:t>
            </a:r>
          </a:p>
          <a:p>
            <a:pPr algn="just">
              <a:buClrTx/>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Une association peut posséder des attributs</a:t>
            </a:r>
          </a:p>
          <a:p>
            <a:pPr lvl="1" algn="just">
              <a:buClrTx/>
              <a:buSzPct val="110000"/>
              <a:buFont typeface="Arial" panose="020B0604020202020204" pitchFamily="34" charset="0"/>
              <a:buChar char="•"/>
            </a:pPr>
            <a:r>
              <a:rPr lang="fr-BE" sz="2000" dirty="0" smtClean="0">
                <a:latin typeface="Myriad Pro" panose="020B0503030403020204" pitchFamily="34" charset="0"/>
                <a:cs typeface="Arial" panose="020B0604020202020204" pitchFamily="34" charset="0"/>
              </a:rPr>
              <a:t>Ex: L’association DIRIGER entre EMPLOYE et DEPARTEMENT aura comme attribut </a:t>
            </a:r>
            <a:r>
              <a:rPr lang="fr-BE" sz="2000" dirty="0" err="1" smtClean="0">
                <a:latin typeface="Myriad Pro" panose="020B0503030403020204" pitchFamily="34" charset="0"/>
                <a:cs typeface="Arial" panose="020B0604020202020204" pitchFamily="34" charset="0"/>
              </a:rPr>
              <a:t>MgrDebut</a:t>
            </a:r>
            <a:r>
              <a:rPr lang="fr-BE" sz="2000" dirty="0" smtClean="0">
                <a:latin typeface="Myriad Pro" panose="020B0503030403020204" pitchFamily="34" charset="0"/>
                <a:cs typeface="Arial" panose="020B0604020202020204" pitchFamily="34" charset="0"/>
              </a:rPr>
              <a:t> qui permet d’indiquer la date de début en fonction de l’employé qui dirige le département</a:t>
            </a:r>
          </a:p>
        </p:txBody>
      </p:sp>
    </p:spTree>
    <p:extLst>
      <p:ext uri="{BB962C8B-B14F-4D97-AF65-F5344CB8AC3E}">
        <p14:creationId xmlns:p14="http://schemas.microsoft.com/office/powerpoint/2010/main" xmlns="" val="31643136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16864" y="246017"/>
            <a:ext cx="11113879" cy="990600"/>
          </a:xfrm>
        </p:spPr>
        <p:txBody>
          <a:bodyPr>
            <a:noAutofit/>
          </a:bodyPr>
          <a:lstStyle/>
          <a:p>
            <a:r>
              <a:rPr lang="fr-BE" sz="4000" dirty="0" smtClean="0">
                <a:latin typeface="Myriad Pro" panose="020B0503030403020204" pitchFamily="34" charset="0"/>
                <a:cs typeface="Arial" panose="020B0604020202020204" pitchFamily="34" charset="0"/>
              </a:rPr>
              <a:t>Cardinalité: sémantique de l’association</a:t>
            </a:r>
            <a:endParaRPr lang="fr-BE" sz="4000" dirty="0">
              <a:latin typeface="Myriad Pro" panose="020B0503030403020204" pitchFamily="34" charset="0"/>
              <a:cs typeface="Arial" panose="020B0604020202020204" pitchFamily="34" charset="0"/>
            </a:endParaRPr>
          </a:p>
        </p:txBody>
      </p:sp>
      <p:sp>
        <p:nvSpPr>
          <p:cNvPr id="3" name="Espace réservé du contenu 2"/>
          <p:cNvSpPr>
            <a:spLocks noGrp="1"/>
          </p:cNvSpPr>
          <p:nvPr>
            <p:ph sz="quarter" idx="1"/>
          </p:nvPr>
        </p:nvSpPr>
        <p:spPr/>
        <p:txBody>
          <a:bodyPr>
            <a:normAutofit/>
          </a:bodyPr>
          <a:lstStyle/>
          <a:p>
            <a:pPr algn="just">
              <a:buClrTx/>
              <a:buSzPct val="110000"/>
              <a:buFont typeface="Arial" panose="020B0604020202020204" pitchFamily="34" charset="0"/>
              <a:buChar char="•"/>
            </a:pPr>
            <a:r>
              <a:rPr lang="fr-BE" sz="2400" b="1" u="sng" dirty="0" smtClean="0">
                <a:latin typeface="Myriad Pro" panose="020B0503030403020204" pitchFamily="34" charset="0"/>
                <a:cs typeface="Arial" panose="020B0604020202020204" pitchFamily="34" charset="0"/>
              </a:rPr>
              <a:t>Cardinalité</a:t>
            </a:r>
            <a:r>
              <a:rPr lang="fr-BE" sz="2400" dirty="0" smtClean="0">
                <a:latin typeface="Myriad Pro" panose="020B0503030403020204" pitchFamily="34" charset="0"/>
                <a:cs typeface="Arial" panose="020B0604020202020204" pitchFamily="34" charset="0"/>
              </a:rPr>
              <a:t>: spécifie pour chaque entité le nombre minimal et maximal d’instances participantes dans l’association</a:t>
            </a:r>
          </a:p>
          <a:p>
            <a:pPr algn="just">
              <a:buClrTx/>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Participation optionnelle ou obligatoire</a:t>
            </a:r>
          </a:p>
          <a:p>
            <a:pPr lvl="1" algn="just">
              <a:buClrTx/>
              <a:buSzPct val="110000"/>
              <a:buFont typeface="Arial" panose="020B0604020202020204" pitchFamily="34" charset="0"/>
              <a:buChar char="•"/>
            </a:pPr>
            <a:r>
              <a:rPr lang="fr-BE" sz="2000" u="sng" dirty="0" smtClean="0">
                <a:latin typeface="Myriad Pro" panose="020B0503030403020204" pitchFamily="34" charset="0"/>
                <a:cs typeface="Arial" panose="020B0604020202020204" pitchFamily="34" charset="0"/>
              </a:rPr>
              <a:t>E est optionnelle</a:t>
            </a:r>
            <a:r>
              <a:rPr lang="fr-BE" sz="2000" dirty="0" smtClean="0">
                <a:latin typeface="Myriad Pro" panose="020B0503030403020204" pitchFamily="34" charset="0"/>
                <a:cs typeface="Arial" panose="020B0604020202020204" pitchFamily="34" charset="0"/>
              </a:rPr>
              <a:t>: cardinalité minimal = 0</a:t>
            </a:r>
          </a:p>
          <a:p>
            <a:pPr lvl="1" algn="just">
              <a:buClrTx/>
              <a:buSzPct val="110000"/>
              <a:buFont typeface="Arial" panose="020B0604020202020204" pitchFamily="34" charset="0"/>
              <a:buChar char="•"/>
            </a:pPr>
            <a:r>
              <a:rPr lang="fr-BE" sz="2000" u="sng" dirty="0" smtClean="0">
                <a:latin typeface="Myriad Pro" panose="020B0503030403020204" pitchFamily="34" charset="0"/>
                <a:cs typeface="Arial" panose="020B0604020202020204" pitchFamily="34" charset="0"/>
              </a:rPr>
              <a:t>E est obligatoire</a:t>
            </a:r>
            <a:r>
              <a:rPr lang="fr-BE" sz="2000" dirty="0" smtClean="0">
                <a:latin typeface="Myriad Pro" panose="020B0503030403020204" pitchFamily="34" charset="0"/>
                <a:cs typeface="Arial" panose="020B0604020202020204" pitchFamily="34" charset="0"/>
              </a:rPr>
              <a:t>: cardinalité minimal ≥ 1</a:t>
            </a:r>
          </a:p>
          <a:p>
            <a:pPr algn="just">
              <a:buClrTx/>
              <a:buSzPct val="110000"/>
              <a:buFont typeface="Arial" panose="020B0604020202020204" pitchFamily="34" charset="0"/>
              <a:buChar char="•"/>
            </a:pPr>
            <a:r>
              <a:rPr lang="fr-BE" sz="2400" b="1" u="sng" dirty="0" smtClean="0">
                <a:latin typeface="Myriad Pro" panose="020B0503030403020204" pitchFamily="34" charset="0"/>
                <a:cs typeface="Arial" panose="020B0604020202020204" pitchFamily="34" charset="0"/>
              </a:rPr>
              <a:t>Classification des associations binaires</a:t>
            </a:r>
            <a:r>
              <a:rPr lang="fr-BE" sz="2400" b="1" dirty="0">
                <a:latin typeface="Myriad Pro" panose="020B0503030403020204" pitchFamily="34" charset="0"/>
                <a:cs typeface="Arial" panose="020B0604020202020204" pitchFamily="34" charset="0"/>
              </a:rPr>
              <a:t> </a:t>
            </a:r>
            <a:r>
              <a:rPr lang="fr-BE" sz="2400" dirty="0" smtClean="0">
                <a:latin typeface="Myriad Pro" panose="020B0503030403020204" pitchFamily="34" charset="0"/>
                <a:cs typeface="Arial" panose="020B0604020202020204" pitchFamily="34" charset="0"/>
              </a:rPr>
              <a:t>selon leurs cardinalités maximales:         (E, F = entités participantes et R est l’association)</a:t>
            </a:r>
          </a:p>
          <a:p>
            <a:pPr lvl="1" algn="just">
              <a:buClrTx/>
              <a:buSzPct val="110000"/>
              <a:buFont typeface="Arial" panose="020B0604020202020204" pitchFamily="34" charset="0"/>
              <a:buChar char="•"/>
            </a:pPr>
            <a:r>
              <a:rPr lang="fr-BE" sz="2000" u="sng" dirty="0" err="1">
                <a:latin typeface="Myriad Pro" panose="020B0503030403020204" pitchFamily="34" charset="0"/>
                <a:cs typeface="Arial" panose="020B0604020202020204" pitchFamily="34" charset="0"/>
              </a:rPr>
              <a:t>Many</a:t>
            </a:r>
            <a:r>
              <a:rPr lang="fr-BE" sz="2000" u="sng" dirty="0">
                <a:latin typeface="Myriad Pro" panose="020B0503030403020204" pitchFamily="34" charset="0"/>
                <a:cs typeface="Arial" panose="020B0604020202020204" pitchFamily="34" charset="0"/>
              </a:rPr>
              <a:t>-to-</a:t>
            </a:r>
            <a:r>
              <a:rPr lang="fr-BE" sz="2000" u="sng" dirty="0" err="1">
                <a:latin typeface="Myriad Pro" panose="020B0503030403020204" pitchFamily="34" charset="0"/>
                <a:cs typeface="Arial" panose="020B0604020202020204" pitchFamily="34" charset="0"/>
              </a:rPr>
              <a:t>Many</a:t>
            </a:r>
            <a:r>
              <a:rPr lang="fr-BE" sz="2000" dirty="0">
                <a:latin typeface="Myriad Pro" panose="020B0503030403020204" pitchFamily="34" charset="0"/>
                <a:cs typeface="Arial" panose="020B0604020202020204" pitchFamily="34" charset="0"/>
              </a:rPr>
              <a:t>: max-</a:t>
            </a:r>
            <a:r>
              <a:rPr lang="fr-BE" sz="2000" dirty="0" err="1">
                <a:latin typeface="Myriad Pro" panose="020B0503030403020204" pitchFamily="34" charset="0"/>
                <a:cs typeface="Arial" panose="020B0604020202020204" pitchFamily="34" charset="0"/>
              </a:rPr>
              <a:t>card</a:t>
            </a:r>
            <a:r>
              <a:rPr lang="fr-BE" sz="2000" dirty="0">
                <a:latin typeface="Myriad Pro" panose="020B0503030403020204" pitchFamily="34" charset="0"/>
                <a:cs typeface="Arial" panose="020B0604020202020204" pitchFamily="34" charset="0"/>
              </a:rPr>
              <a:t>(E,R) = n, max-</a:t>
            </a:r>
            <a:r>
              <a:rPr lang="fr-BE" sz="2000" dirty="0" err="1">
                <a:latin typeface="Myriad Pro" panose="020B0503030403020204" pitchFamily="34" charset="0"/>
                <a:cs typeface="Arial" panose="020B0604020202020204" pitchFamily="34" charset="0"/>
              </a:rPr>
              <a:t>card</a:t>
            </a:r>
            <a:r>
              <a:rPr lang="fr-BE" sz="2000" dirty="0">
                <a:latin typeface="Myriad Pro" panose="020B0503030403020204" pitchFamily="34" charset="0"/>
                <a:cs typeface="Arial" panose="020B0604020202020204" pitchFamily="34" charset="0"/>
              </a:rPr>
              <a:t>(F,R) = n</a:t>
            </a:r>
          </a:p>
          <a:p>
            <a:pPr lvl="1" algn="just">
              <a:buClrTx/>
              <a:buSzPct val="110000"/>
              <a:buFont typeface="Arial" panose="020B0604020202020204" pitchFamily="34" charset="0"/>
              <a:buChar char="•"/>
            </a:pPr>
            <a:r>
              <a:rPr lang="fr-BE" sz="2000" u="sng" dirty="0">
                <a:latin typeface="Myriad Pro" panose="020B0503030403020204" pitchFamily="34" charset="0"/>
                <a:cs typeface="Arial" panose="020B0604020202020204" pitchFamily="34" charset="0"/>
              </a:rPr>
              <a:t>One-to-</a:t>
            </a:r>
            <a:r>
              <a:rPr lang="fr-BE" sz="2000" u="sng" dirty="0" err="1">
                <a:latin typeface="Myriad Pro" panose="020B0503030403020204" pitchFamily="34" charset="0"/>
                <a:cs typeface="Arial" panose="020B0604020202020204" pitchFamily="34" charset="0"/>
              </a:rPr>
              <a:t>Many</a:t>
            </a:r>
            <a:r>
              <a:rPr lang="fr-BE" sz="2000" dirty="0">
                <a:latin typeface="Myriad Pro" panose="020B0503030403020204" pitchFamily="34" charset="0"/>
                <a:cs typeface="Arial" panose="020B0604020202020204" pitchFamily="34" charset="0"/>
              </a:rPr>
              <a:t>: max-</a:t>
            </a:r>
            <a:r>
              <a:rPr lang="fr-BE" sz="2000" dirty="0" err="1">
                <a:latin typeface="Myriad Pro" panose="020B0503030403020204" pitchFamily="34" charset="0"/>
                <a:cs typeface="Arial" panose="020B0604020202020204" pitchFamily="34" charset="0"/>
              </a:rPr>
              <a:t>card</a:t>
            </a:r>
            <a:r>
              <a:rPr lang="fr-BE" sz="2000" dirty="0">
                <a:latin typeface="Myriad Pro" panose="020B0503030403020204" pitchFamily="34" charset="0"/>
                <a:cs typeface="Arial" panose="020B0604020202020204" pitchFamily="34" charset="0"/>
              </a:rPr>
              <a:t>(E,R) = 1, max-</a:t>
            </a:r>
            <a:r>
              <a:rPr lang="fr-BE" sz="2000" dirty="0" err="1">
                <a:latin typeface="Myriad Pro" panose="020B0503030403020204" pitchFamily="34" charset="0"/>
                <a:cs typeface="Arial" panose="020B0604020202020204" pitchFamily="34" charset="0"/>
              </a:rPr>
              <a:t>card</a:t>
            </a:r>
            <a:r>
              <a:rPr lang="fr-BE" sz="2000" dirty="0">
                <a:latin typeface="Myriad Pro" panose="020B0503030403020204" pitchFamily="34" charset="0"/>
                <a:cs typeface="Arial" panose="020B0604020202020204" pitchFamily="34" charset="0"/>
              </a:rPr>
              <a:t>(F,R) = n</a:t>
            </a:r>
          </a:p>
          <a:p>
            <a:pPr lvl="1" algn="just">
              <a:buClrTx/>
              <a:buSzPct val="110000"/>
              <a:buFont typeface="Arial" panose="020B0604020202020204" pitchFamily="34" charset="0"/>
              <a:buChar char="•"/>
            </a:pPr>
            <a:r>
              <a:rPr lang="fr-BE" sz="2000" u="sng" dirty="0" smtClean="0">
                <a:latin typeface="Myriad Pro" panose="020B0503030403020204" pitchFamily="34" charset="0"/>
                <a:cs typeface="Arial" panose="020B0604020202020204" pitchFamily="34" charset="0"/>
              </a:rPr>
              <a:t>One-to-One</a:t>
            </a:r>
            <a:r>
              <a:rPr lang="fr-BE" sz="2000" dirty="0" smtClean="0">
                <a:latin typeface="Myriad Pro" panose="020B0503030403020204" pitchFamily="34" charset="0"/>
                <a:cs typeface="Arial" panose="020B0604020202020204" pitchFamily="34" charset="0"/>
              </a:rPr>
              <a:t>: max-</a:t>
            </a:r>
            <a:r>
              <a:rPr lang="fr-BE" sz="2000" dirty="0" err="1" smtClean="0">
                <a:latin typeface="Myriad Pro" panose="020B0503030403020204" pitchFamily="34" charset="0"/>
                <a:cs typeface="Arial" panose="020B0604020202020204" pitchFamily="34" charset="0"/>
              </a:rPr>
              <a:t>card</a:t>
            </a:r>
            <a:r>
              <a:rPr lang="fr-BE" sz="2000" dirty="0" smtClean="0">
                <a:latin typeface="Myriad Pro" panose="020B0503030403020204" pitchFamily="34" charset="0"/>
                <a:cs typeface="Arial" panose="020B0604020202020204" pitchFamily="34" charset="0"/>
              </a:rPr>
              <a:t>(E,R) = 1,  max-</a:t>
            </a:r>
            <a:r>
              <a:rPr lang="fr-BE" sz="2000" dirty="0" err="1" smtClean="0">
                <a:latin typeface="Myriad Pro" panose="020B0503030403020204" pitchFamily="34" charset="0"/>
                <a:cs typeface="Arial" panose="020B0604020202020204" pitchFamily="34" charset="0"/>
              </a:rPr>
              <a:t>card</a:t>
            </a:r>
            <a:r>
              <a:rPr lang="fr-BE" sz="2000" dirty="0" smtClean="0">
                <a:latin typeface="Myriad Pro" panose="020B0503030403020204" pitchFamily="34" charset="0"/>
                <a:cs typeface="Arial" panose="020B0604020202020204" pitchFamily="34" charset="0"/>
              </a:rPr>
              <a:t>(F,R) = 1</a:t>
            </a:r>
          </a:p>
        </p:txBody>
      </p:sp>
    </p:spTree>
    <p:extLst>
      <p:ext uri="{BB962C8B-B14F-4D97-AF65-F5344CB8AC3E}">
        <p14:creationId xmlns:p14="http://schemas.microsoft.com/office/powerpoint/2010/main" xmlns="" val="16913116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sz="4000" dirty="0" smtClean="0">
                <a:latin typeface="Myriad Pro" panose="020B0503030403020204" pitchFamily="34" charset="0"/>
              </a:rPr>
              <a:t>Association </a:t>
            </a:r>
            <a:r>
              <a:rPr lang="fr-BE" sz="4000" dirty="0" err="1" smtClean="0">
                <a:latin typeface="Myriad Pro" panose="020B0503030403020204" pitchFamily="34" charset="0"/>
              </a:rPr>
              <a:t>Many</a:t>
            </a:r>
            <a:r>
              <a:rPr lang="fr-BE" sz="4000" dirty="0" smtClean="0">
                <a:latin typeface="Myriad Pro" panose="020B0503030403020204" pitchFamily="34" charset="0"/>
              </a:rPr>
              <a:t>-to-</a:t>
            </a:r>
            <a:r>
              <a:rPr lang="fr-BE" sz="4000" dirty="0" err="1" smtClean="0">
                <a:latin typeface="Myriad Pro" panose="020B0503030403020204" pitchFamily="34" charset="0"/>
              </a:rPr>
              <a:t>Many</a:t>
            </a:r>
            <a:endParaRPr lang="fr-BE" sz="4000" dirty="0">
              <a:latin typeface="Myriad Pro" panose="020B0503030403020204" pitchFamily="34" charset="0"/>
            </a:endParaRPr>
          </a:p>
        </p:txBody>
      </p:sp>
      <p:sp>
        <p:nvSpPr>
          <p:cNvPr id="7" name="ZoneTexte 6"/>
          <p:cNvSpPr txBox="1"/>
          <p:nvPr/>
        </p:nvSpPr>
        <p:spPr>
          <a:xfrm>
            <a:off x="3526425" y="2953115"/>
            <a:ext cx="1066801" cy="369332"/>
          </a:xfrm>
          <a:prstGeom prst="rect">
            <a:avLst/>
          </a:prstGeom>
          <a:noFill/>
        </p:spPr>
        <p:txBody>
          <a:bodyPr wrap="square" rtlCol="0">
            <a:spAutoFit/>
          </a:bodyPr>
          <a:lstStyle/>
          <a:p>
            <a:r>
              <a:rPr lang="fr-BE" dirty="0" smtClean="0"/>
              <a:t>Générale</a:t>
            </a:r>
            <a:endParaRPr lang="fr-BE" dirty="0"/>
          </a:p>
        </p:txBody>
      </p:sp>
      <p:sp>
        <p:nvSpPr>
          <p:cNvPr id="11" name="ZoneTexte 10"/>
          <p:cNvSpPr txBox="1"/>
          <p:nvPr/>
        </p:nvSpPr>
        <p:spPr>
          <a:xfrm>
            <a:off x="3526425" y="4363847"/>
            <a:ext cx="2032001" cy="369332"/>
          </a:xfrm>
          <a:prstGeom prst="rect">
            <a:avLst/>
          </a:prstGeom>
          <a:noFill/>
        </p:spPr>
        <p:txBody>
          <a:bodyPr wrap="square" rtlCol="0">
            <a:spAutoFit/>
          </a:bodyPr>
          <a:lstStyle/>
          <a:p>
            <a:r>
              <a:rPr lang="fr-BE" dirty="0" smtClean="0"/>
              <a:t>Semi-optionnel</a:t>
            </a:r>
            <a:endParaRPr lang="fr-BE" dirty="0"/>
          </a:p>
        </p:txBody>
      </p:sp>
      <p:graphicFrame>
        <p:nvGraphicFramePr>
          <p:cNvPr id="42" name="Tableau 41"/>
          <p:cNvGraphicFramePr>
            <a:graphicFrameLocks noGrp="1"/>
          </p:cNvGraphicFramePr>
          <p:nvPr>
            <p:extLst>
              <p:ext uri="{D42A27DB-BD31-4B8C-83A1-F6EECF244321}">
                <p14:modId xmlns:p14="http://schemas.microsoft.com/office/powerpoint/2010/main" xmlns="" val="430720920"/>
              </p:ext>
            </p:extLst>
          </p:nvPr>
        </p:nvGraphicFramePr>
        <p:xfrm>
          <a:off x="626801" y="2863367"/>
          <a:ext cx="11061263" cy="1915161"/>
        </p:xfrm>
        <a:graphic>
          <a:graphicData uri="http://schemas.openxmlformats.org/drawingml/2006/table">
            <a:tbl>
              <a:tblPr firstRow="1" bandRow="1">
                <a:tableStyleId>{5C22544A-7EE6-4342-B048-85BDC9FD1C3A}</a:tableStyleId>
              </a:tblPr>
              <a:tblGrid>
                <a:gridCol w="3699933"/>
                <a:gridCol w="3703730"/>
                <a:gridCol w="3657600"/>
              </a:tblGrid>
              <a:tr h="1915161">
                <a:tc>
                  <a:txBody>
                    <a:bodyPr/>
                    <a:lstStyle/>
                    <a:p>
                      <a:endParaRPr lang="fr-BE" b="1" dirty="0"/>
                    </a:p>
                  </a:txBody>
                  <a:tcPr>
                    <a:solidFill>
                      <a:schemeClr val="accent1">
                        <a:lumMod val="40000"/>
                        <a:lumOff val="60000"/>
                      </a:schemeClr>
                    </a:solidFill>
                  </a:tcPr>
                </a:tc>
                <a:tc>
                  <a:txBody>
                    <a:bodyPr/>
                    <a:lstStyle/>
                    <a:p>
                      <a:endParaRPr kumimoji="0" lang="fr-BE" b="1" kern="1200" dirty="0">
                        <a:solidFill>
                          <a:schemeClr val="lt1"/>
                        </a:solidFill>
                        <a:latin typeface="+mn-lt"/>
                        <a:ea typeface="+mn-ea"/>
                        <a:cs typeface="+mn-cs"/>
                      </a:endParaRPr>
                    </a:p>
                  </a:txBody>
                  <a:tcPr>
                    <a:solidFill>
                      <a:schemeClr val="accent1">
                        <a:lumMod val="40000"/>
                        <a:lumOff val="60000"/>
                      </a:schemeClr>
                    </a:solidFill>
                  </a:tcPr>
                </a:tc>
                <a:tc>
                  <a:txBody>
                    <a:bodyPr/>
                    <a:lstStyle/>
                    <a:p>
                      <a:endParaRPr lang="fr-BE" dirty="0"/>
                    </a:p>
                  </a:txBody>
                  <a:tcPr>
                    <a:solidFill>
                      <a:schemeClr val="accent1">
                        <a:lumMod val="40000"/>
                        <a:lumOff val="60000"/>
                      </a:schemeClr>
                    </a:solidFill>
                  </a:tcPr>
                </a:tc>
              </a:tr>
            </a:tbl>
          </a:graphicData>
        </a:graphic>
      </p:graphicFrame>
      <p:pic>
        <p:nvPicPr>
          <p:cNvPr id="8" name="Image 7"/>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908508" y="3180809"/>
            <a:ext cx="3231160" cy="1280271"/>
          </a:xfrm>
          <a:prstGeom prst="rect">
            <a:avLst/>
          </a:prstGeom>
        </p:spPr>
      </p:pic>
      <p:pic>
        <p:nvPicPr>
          <p:cNvPr id="9" name="Image 8"/>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4593226" y="3180806"/>
            <a:ext cx="3231160" cy="1280271"/>
          </a:xfrm>
          <a:prstGeom prst="rect">
            <a:avLst/>
          </a:prstGeom>
        </p:spPr>
      </p:pic>
      <p:pic>
        <p:nvPicPr>
          <p:cNvPr id="10" name="Image 9"/>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8176343" y="3137781"/>
            <a:ext cx="3393734" cy="1442845"/>
          </a:xfrm>
          <a:prstGeom prst="rect">
            <a:avLst/>
          </a:prstGeom>
        </p:spPr>
      </p:pic>
    </p:spTree>
    <p:extLst>
      <p:ext uri="{BB962C8B-B14F-4D97-AF65-F5344CB8AC3E}">
        <p14:creationId xmlns:p14="http://schemas.microsoft.com/office/powerpoint/2010/main" xmlns="" val="31025084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sz="4000" dirty="0" smtClean="0">
                <a:latin typeface="Myriad Pro" panose="020B0503030403020204" pitchFamily="34" charset="0"/>
              </a:rPr>
              <a:t>Association One-to-</a:t>
            </a:r>
            <a:r>
              <a:rPr lang="fr-BE" sz="4000" dirty="0" err="1" smtClean="0">
                <a:latin typeface="Myriad Pro" panose="020B0503030403020204" pitchFamily="34" charset="0"/>
              </a:rPr>
              <a:t>Many</a:t>
            </a:r>
            <a:endParaRPr lang="fr-BE" sz="4000" dirty="0">
              <a:latin typeface="Myriad Pro" panose="020B0503030403020204" pitchFamily="34" charset="0"/>
            </a:endParaRPr>
          </a:p>
        </p:txBody>
      </p:sp>
      <p:sp>
        <p:nvSpPr>
          <p:cNvPr id="7" name="ZoneTexte 6"/>
          <p:cNvSpPr txBox="1"/>
          <p:nvPr/>
        </p:nvSpPr>
        <p:spPr>
          <a:xfrm>
            <a:off x="3526425" y="2953115"/>
            <a:ext cx="1066801" cy="369332"/>
          </a:xfrm>
          <a:prstGeom prst="rect">
            <a:avLst/>
          </a:prstGeom>
          <a:noFill/>
        </p:spPr>
        <p:txBody>
          <a:bodyPr wrap="square" rtlCol="0">
            <a:spAutoFit/>
          </a:bodyPr>
          <a:lstStyle/>
          <a:p>
            <a:r>
              <a:rPr lang="fr-BE" dirty="0" smtClean="0"/>
              <a:t>Générale</a:t>
            </a:r>
            <a:endParaRPr lang="fr-BE" dirty="0"/>
          </a:p>
        </p:txBody>
      </p:sp>
      <p:sp>
        <p:nvSpPr>
          <p:cNvPr id="11" name="ZoneTexte 10"/>
          <p:cNvSpPr txBox="1"/>
          <p:nvPr/>
        </p:nvSpPr>
        <p:spPr>
          <a:xfrm>
            <a:off x="3526425" y="4363847"/>
            <a:ext cx="2032001" cy="369332"/>
          </a:xfrm>
          <a:prstGeom prst="rect">
            <a:avLst/>
          </a:prstGeom>
          <a:noFill/>
        </p:spPr>
        <p:txBody>
          <a:bodyPr wrap="square" rtlCol="0">
            <a:spAutoFit/>
          </a:bodyPr>
          <a:lstStyle/>
          <a:p>
            <a:r>
              <a:rPr lang="fr-BE" dirty="0" smtClean="0"/>
              <a:t>Semi-optionnel</a:t>
            </a:r>
            <a:endParaRPr lang="fr-BE" dirty="0"/>
          </a:p>
        </p:txBody>
      </p:sp>
      <p:graphicFrame>
        <p:nvGraphicFramePr>
          <p:cNvPr id="42" name="Tableau 41"/>
          <p:cNvGraphicFramePr>
            <a:graphicFrameLocks noGrp="1"/>
          </p:cNvGraphicFramePr>
          <p:nvPr>
            <p:extLst>
              <p:ext uri="{D42A27DB-BD31-4B8C-83A1-F6EECF244321}">
                <p14:modId xmlns:p14="http://schemas.microsoft.com/office/powerpoint/2010/main" xmlns="" val="1100522749"/>
              </p:ext>
            </p:extLst>
          </p:nvPr>
        </p:nvGraphicFramePr>
        <p:xfrm>
          <a:off x="1017429" y="2485622"/>
          <a:ext cx="10503207" cy="2778433"/>
        </p:xfrm>
        <a:graphic>
          <a:graphicData uri="http://schemas.openxmlformats.org/drawingml/2006/table">
            <a:tbl>
              <a:tblPr firstRow="1" bandRow="1">
                <a:tableStyleId>{5C22544A-7EE6-4342-B048-85BDC9FD1C3A}</a:tableStyleId>
              </a:tblPr>
              <a:tblGrid>
                <a:gridCol w="5248910"/>
                <a:gridCol w="5254297"/>
              </a:tblGrid>
              <a:tr h="450724">
                <a:tc>
                  <a:txBody>
                    <a:bodyPr/>
                    <a:lstStyle/>
                    <a:p>
                      <a:pPr algn="ctr"/>
                      <a:r>
                        <a:rPr lang="fr-BE" dirty="0" smtClean="0"/>
                        <a:t>Générale</a:t>
                      </a:r>
                      <a:endParaRPr lang="fr-BE" dirty="0"/>
                    </a:p>
                  </a:txBody>
                  <a:tcPr/>
                </a:tc>
                <a:tc>
                  <a:txBody>
                    <a:bodyPr/>
                    <a:lstStyle/>
                    <a:p>
                      <a:pPr algn="ctr"/>
                      <a:r>
                        <a:rPr lang="fr-BE" dirty="0" smtClean="0"/>
                        <a:t>Semi-optionnelle</a:t>
                      </a:r>
                      <a:endParaRPr lang="fr-BE" dirty="0"/>
                    </a:p>
                  </a:txBody>
                  <a:tcPr/>
                </a:tc>
              </a:tr>
              <a:tr h="2327709">
                <a:tc>
                  <a:txBody>
                    <a:bodyPr/>
                    <a:lstStyle/>
                    <a:p>
                      <a:endParaRPr lang="fr-BE" dirty="0"/>
                    </a:p>
                  </a:txBody>
                  <a:tcPr/>
                </a:tc>
                <a:tc>
                  <a:txBody>
                    <a:bodyPr/>
                    <a:lstStyle/>
                    <a:p>
                      <a:endParaRPr lang="fr-BE" dirty="0"/>
                    </a:p>
                  </a:txBody>
                  <a:tcPr/>
                </a:tc>
              </a:tr>
            </a:tbl>
          </a:graphicData>
        </a:graphic>
      </p:graphicFrame>
      <p:pic>
        <p:nvPicPr>
          <p:cNvPr id="4" name="Image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6581104" y="3400024"/>
            <a:ext cx="4591440" cy="1192268"/>
          </a:xfrm>
          <a:prstGeom prst="rect">
            <a:avLst/>
          </a:prstGeom>
        </p:spPr>
      </p:pic>
      <p:pic>
        <p:nvPicPr>
          <p:cNvPr id="5" name="Image 4"/>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313643" y="3410156"/>
            <a:ext cx="4627027" cy="1169754"/>
          </a:xfrm>
          <a:prstGeom prst="rect">
            <a:avLst/>
          </a:prstGeom>
        </p:spPr>
      </p:pic>
    </p:spTree>
    <p:extLst>
      <p:ext uri="{BB962C8B-B14F-4D97-AF65-F5344CB8AC3E}">
        <p14:creationId xmlns:p14="http://schemas.microsoft.com/office/powerpoint/2010/main" xmlns="" val="35175811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sz="4000" dirty="0" smtClean="0">
                <a:latin typeface="Myriad Pro" panose="020B0503030403020204" pitchFamily="34" charset="0"/>
              </a:rPr>
              <a:t>Association One-to-One</a:t>
            </a:r>
            <a:endParaRPr lang="fr-BE" sz="4000" dirty="0">
              <a:latin typeface="Myriad Pro" panose="020B0503030403020204" pitchFamily="34" charset="0"/>
            </a:endParaRPr>
          </a:p>
        </p:txBody>
      </p:sp>
      <p:sp>
        <p:nvSpPr>
          <p:cNvPr id="7" name="ZoneTexte 6"/>
          <p:cNvSpPr txBox="1"/>
          <p:nvPr/>
        </p:nvSpPr>
        <p:spPr>
          <a:xfrm>
            <a:off x="3526425" y="2953115"/>
            <a:ext cx="1066801" cy="369332"/>
          </a:xfrm>
          <a:prstGeom prst="rect">
            <a:avLst/>
          </a:prstGeom>
          <a:noFill/>
        </p:spPr>
        <p:txBody>
          <a:bodyPr wrap="square" rtlCol="0">
            <a:spAutoFit/>
          </a:bodyPr>
          <a:lstStyle/>
          <a:p>
            <a:r>
              <a:rPr lang="fr-BE" dirty="0" smtClean="0"/>
              <a:t>Générale</a:t>
            </a:r>
            <a:endParaRPr lang="fr-BE" dirty="0"/>
          </a:p>
        </p:txBody>
      </p:sp>
      <p:sp>
        <p:nvSpPr>
          <p:cNvPr id="11" name="ZoneTexte 10"/>
          <p:cNvSpPr txBox="1"/>
          <p:nvPr/>
        </p:nvSpPr>
        <p:spPr>
          <a:xfrm>
            <a:off x="3526425" y="4363847"/>
            <a:ext cx="2032001" cy="369332"/>
          </a:xfrm>
          <a:prstGeom prst="rect">
            <a:avLst/>
          </a:prstGeom>
          <a:noFill/>
        </p:spPr>
        <p:txBody>
          <a:bodyPr wrap="square" rtlCol="0">
            <a:spAutoFit/>
          </a:bodyPr>
          <a:lstStyle/>
          <a:p>
            <a:r>
              <a:rPr lang="fr-BE" dirty="0" smtClean="0"/>
              <a:t>Semi-optionnel</a:t>
            </a:r>
            <a:endParaRPr lang="fr-BE" dirty="0"/>
          </a:p>
        </p:txBody>
      </p:sp>
      <p:graphicFrame>
        <p:nvGraphicFramePr>
          <p:cNvPr id="42" name="Tableau 41"/>
          <p:cNvGraphicFramePr>
            <a:graphicFrameLocks noGrp="1"/>
          </p:cNvGraphicFramePr>
          <p:nvPr>
            <p:extLst>
              <p:ext uri="{D42A27DB-BD31-4B8C-83A1-F6EECF244321}">
                <p14:modId xmlns:p14="http://schemas.microsoft.com/office/powerpoint/2010/main" xmlns="" val="2315534753"/>
              </p:ext>
            </p:extLst>
          </p:nvPr>
        </p:nvGraphicFramePr>
        <p:xfrm>
          <a:off x="626801" y="2863367"/>
          <a:ext cx="11061263" cy="2286001"/>
        </p:xfrm>
        <a:graphic>
          <a:graphicData uri="http://schemas.openxmlformats.org/drawingml/2006/table">
            <a:tbl>
              <a:tblPr firstRow="1" bandRow="1">
                <a:tableStyleId>{5C22544A-7EE6-4342-B048-85BDC9FD1C3A}</a:tableStyleId>
              </a:tblPr>
              <a:tblGrid>
                <a:gridCol w="3699933"/>
                <a:gridCol w="3703730"/>
                <a:gridCol w="3657600"/>
              </a:tblGrid>
              <a:tr h="370840">
                <a:tc>
                  <a:txBody>
                    <a:bodyPr/>
                    <a:lstStyle/>
                    <a:p>
                      <a:pPr algn="ctr"/>
                      <a:r>
                        <a:rPr lang="fr-BE" dirty="0" smtClean="0"/>
                        <a:t>Générale</a:t>
                      </a:r>
                      <a:endParaRPr lang="fr-BE" dirty="0"/>
                    </a:p>
                  </a:txBody>
                  <a:tcPr/>
                </a:tc>
                <a:tc>
                  <a:txBody>
                    <a:bodyPr/>
                    <a:lstStyle/>
                    <a:p>
                      <a:pPr algn="ctr"/>
                      <a:r>
                        <a:rPr lang="fr-BE" dirty="0" smtClean="0"/>
                        <a:t>Semi-optionnelle</a:t>
                      </a:r>
                      <a:endParaRPr lang="fr-BE" dirty="0"/>
                    </a:p>
                  </a:txBody>
                  <a:tcPr/>
                </a:tc>
                <a:tc>
                  <a:txBody>
                    <a:bodyPr/>
                    <a:lstStyle/>
                    <a:p>
                      <a:pPr algn="ctr"/>
                      <a:r>
                        <a:rPr lang="fr-BE" dirty="0" smtClean="0"/>
                        <a:t>Full-optionnelle</a:t>
                      </a:r>
                      <a:endParaRPr lang="fr-BE" dirty="0"/>
                    </a:p>
                  </a:txBody>
                  <a:tcPr/>
                </a:tc>
              </a:tr>
              <a:tr h="1915161">
                <a:tc>
                  <a:txBody>
                    <a:bodyPr/>
                    <a:lstStyle/>
                    <a:p>
                      <a:endParaRPr lang="fr-BE" dirty="0"/>
                    </a:p>
                  </a:txBody>
                  <a:tcPr/>
                </a:tc>
                <a:tc>
                  <a:txBody>
                    <a:bodyPr/>
                    <a:lstStyle/>
                    <a:p>
                      <a:endParaRPr lang="fr-BE" dirty="0"/>
                    </a:p>
                  </a:txBody>
                  <a:tcPr/>
                </a:tc>
                <a:tc>
                  <a:txBody>
                    <a:bodyPr/>
                    <a:lstStyle/>
                    <a:p>
                      <a:endParaRPr lang="fr-BE" dirty="0"/>
                    </a:p>
                  </a:txBody>
                  <a:tcPr/>
                </a:tc>
              </a:tr>
            </a:tbl>
          </a:graphicData>
        </a:graphic>
      </p:graphicFrame>
      <p:pic>
        <p:nvPicPr>
          <p:cNvPr id="3" name="Image 2"/>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760748" y="3513794"/>
            <a:ext cx="3332769" cy="1280271"/>
          </a:xfrm>
          <a:prstGeom prst="rect">
            <a:avLst/>
          </a:prstGeom>
        </p:spPr>
      </p:pic>
      <p:pic>
        <p:nvPicPr>
          <p:cNvPr id="4" name="Image 3"/>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8220886" y="3513794"/>
            <a:ext cx="3332769" cy="1280271"/>
          </a:xfrm>
          <a:prstGeom prst="rect">
            <a:avLst/>
          </a:prstGeom>
        </p:spPr>
      </p:pic>
      <p:pic>
        <p:nvPicPr>
          <p:cNvPr id="5" name="Image 4"/>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4409760" y="3432506"/>
            <a:ext cx="3495343" cy="1442845"/>
          </a:xfrm>
          <a:prstGeom prst="rect">
            <a:avLst/>
          </a:prstGeom>
        </p:spPr>
      </p:pic>
    </p:spTree>
    <p:extLst>
      <p:ext uri="{BB962C8B-B14F-4D97-AF65-F5344CB8AC3E}">
        <p14:creationId xmlns:p14="http://schemas.microsoft.com/office/powerpoint/2010/main" xmlns="" val="30452657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sz="4000" dirty="0" smtClean="0">
                <a:latin typeface="Myriad Pro" panose="020B0503030403020204" pitchFamily="34" charset="0"/>
              </a:rPr>
              <a:t>Association </a:t>
            </a:r>
            <a:r>
              <a:rPr lang="fr-BE" sz="4000" dirty="0" err="1" smtClean="0">
                <a:latin typeface="Myriad Pro" panose="020B0503030403020204" pitchFamily="34" charset="0"/>
              </a:rPr>
              <a:t>N-aire</a:t>
            </a:r>
            <a:endParaRPr lang="fr-BE" sz="4000" dirty="0">
              <a:latin typeface="Myriad Pro" panose="020B0503030403020204" pitchFamily="34" charset="0"/>
            </a:endParaRPr>
          </a:p>
        </p:txBody>
      </p:sp>
      <p:pic>
        <p:nvPicPr>
          <p:cNvPr id="4" name="Image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279186" y="2228046"/>
            <a:ext cx="5080778" cy="4056845"/>
          </a:xfrm>
          <a:prstGeom prst="rect">
            <a:avLst/>
          </a:prstGeom>
        </p:spPr>
      </p:pic>
      <p:pic>
        <p:nvPicPr>
          <p:cNvPr id="5" name="Image 4"/>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7379589" y="1597528"/>
            <a:ext cx="2966413" cy="2373131"/>
          </a:xfrm>
          <a:prstGeom prst="rect">
            <a:avLst/>
          </a:prstGeom>
        </p:spPr>
      </p:pic>
      <p:pic>
        <p:nvPicPr>
          <p:cNvPr id="10" name="Image 9"/>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6908855" y="4072362"/>
            <a:ext cx="4418597" cy="2637532"/>
          </a:xfrm>
          <a:prstGeom prst="rect">
            <a:avLst/>
          </a:prstGeom>
        </p:spPr>
      </p:pic>
    </p:spTree>
    <p:extLst>
      <p:ext uri="{BB962C8B-B14F-4D97-AF65-F5344CB8AC3E}">
        <p14:creationId xmlns:p14="http://schemas.microsoft.com/office/powerpoint/2010/main" xmlns="" val="35124615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sz="4000" dirty="0" smtClean="0">
                <a:latin typeface="Myriad Pro" panose="020B0503030403020204" pitchFamily="34" charset="0"/>
              </a:rPr>
              <a:t>Expressivité dune association binaire vs. ternaire</a:t>
            </a:r>
            <a:endParaRPr lang="fr-BE" sz="4000" dirty="0">
              <a:latin typeface="Myriad Pro" panose="020B0503030403020204" pitchFamily="34" charset="0"/>
            </a:endParaRPr>
          </a:p>
        </p:txBody>
      </p:sp>
      <p:sp>
        <p:nvSpPr>
          <p:cNvPr id="3" name="Espace réservé du contenu 2"/>
          <p:cNvSpPr>
            <a:spLocks noGrp="1"/>
          </p:cNvSpPr>
          <p:nvPr>
            <p:ph sz="quarter" idx="1"/>
          </p:nvPr>
        </p:nvSpPr>
        <p:spPr>
          <a:xfrm>
            <a:off x="816864" y="1600200"/>
            <a:ext cx="10871200" cy="4916510"/>
          </a:xfrm>
        </p:spPr>
        <p:txBody>
          <a:bodyPr>
            <a:normAutofit/>
          </a:bodyPr>
          <a:lstStyle/>
          <a:p>
            <a:endParaRPr lang="fr-BE" sz="2400" dirty="0" smtClean="0">
              <a:latin typeface="Myriad Pro" panose="020B0503030403020204" pitchFamily="34" charset="0"/>
              <a:cs typeface="Arial" panose="020B0604020202020204" pitchFamily="34" charset="0"/>
            </a:endParaRPr>
          </a:p>
          <a:p>
            <a:endParaRPr lang="fr-BE" sz="2400" dirty="0" smtClean="0">
              <a:latin typeface="Myriad Pro" panose="020B0503030403020204" pitchFamily="34" charset="0"/>
              <a:cs typeface="Arial" panose="020B0604020202020204" pitchFamily="34" charset="0"/>
            </a:endParaRPr>
          </a:p>
          <a:p>
            <a:endParaRPr lang="fr-BE" sz="2400" dirty="0">
              <a:latin typeface="Myriad Pro" panose="020B0503030403020204" pitchFamily="34" charset="0"/>
              <a:cs typeface="Arial" panose="020B0604020202020204" pitchFamily="34" charset="0"/>
            </a:endParaRPr>
          </a:p>
          <a:p>
            <a:endParaRPr lang="fr-BE" sz="2400" dirty="0" smtClean="0">
              <a:latin typeface="Myriad Pro" panose="020B0503030403020204" pitchFamily="34" charset="0"/>
              <a:cs typeface="Arial" panose="020B0604020202020204" pitchFamily="34" charset="0"/>
            </a:endParaRPr>
          </a:p>
          <a:p>
            <a:endParaRPr lang="fr-BE" sz="2400" dirty="0">
              <a:latin typeface="Myriad Pro" panose="020B0503030403020204" pitchFamily="34" charset="0"/>
              <a:cs typeface="Arial" panose="020B0604020202020204" pitchFamily="34" charset="0"/>
            </a:endParaRPr>
          </a:p>
          <a:p>
            <a:endParaRPr lang="fr-BE" sz="2400" dirty="0" smtClean="0">
              <a:latin typeface="Myriad Pro" panose="020B0503030403020204" pitchFamily="34" charset="0"/>
              <a:cs typeface="Arial" panose="020B0604020202020204" pitchFamily="34" charset="0"/>
            </a:endParaRPr>
          </a:p>
          <a:p>
            <a:endParaRPr lang="fr-BE" sz="2400" dirty="0" smtClean="0">
              <a:latin typeface="Myriad Pro" panose="020B0503030403020204" pitchFamily="34" charset="0"/>
              <a:cs typeface="Arial" panose="020B0604020202020204" pitchFamily="34" charset="0"/>
            </a:endParaRPr>
          </a:p>
          <a:p>
            <a:pPr marL="0" indent="0">
              <a:buNone/>
            </a:pPr>
            <a:endParaRPr lang="fr-BE" sz="2400" dirty="0" smtClean="0">
              <a:latin typeface="Myriad Pro" panose="020B0503030403020204" pitchFamily="34" charset="0"/>
              <a:cs typeface="Arial" panose="020B0604020202020204" pitchFamily="34" charset="0"/>
            </a:endParaRPr>
          </a:p>
          <a:p>
            <a:pPr marL="0" indent="0">
              <a:buNone/>
            </a:pPr>
            <a:endParaRPr lang="fr-BE" sz="2400" dirty="0">
              <a:latin typeface="Myriad Pro" panose="020B0503030403020204" pitchFamily="34" charset="0"/>
              <a:cs typeface="Arial" panose="020B0604020202020204" pitchFamily="34" charset="0"/>
            </a:endParaRPr>
          </a:p>
          <a:p>
            <a:pPr algn="just">
              <a:buClrTx/>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Il est impossible de déduire sur base des associations binaires que Dupont n’approvisionne pas le Proj1 avec du Papier</a:t>
            </a:r>
          </a:p>
          <a:p>
            <a:pPr marL="0" indent="0">
              <a:buNone/>
            </a:pPr>
            <a:endParaRPr lang="fr-BE" sz="2400" dirty="0">
              <a:latin typeface="Myriad Pro" panose="020B0503030403020204" pitchFamily="34" charset="0"/>
              <a:cs typeface="Arial" panose="020B0604020202020204" pitchFamily="34" charset="0"/>
            </a:endParaRPr>
          </a:p>
        </p:txBody>
      </p:sp>
      <p:graphicFrame>
        <p:nvGraphicFramePr>
          <p:cNvPr id="4" name="Tableau 3"/>
          <p:cNvGraphicFramePr>
            <a:graphicFrameLocks noGrp="1"/>
          </p:cNvGraphicFramePr>
          <p:nvPr>
            <p:extLst>
              <p:ext uri="{D42A27DB-BD31-4B8C-83A1-F6EECF244321}">
                <p14:modId xmlns:p14="http://schemas.microsoft.com/office/powerpoint/2010/main" xmlns="" val="129138999"/>
              </p:ext>
            </p:extLst>
          </p:nvPr>
        </p:nvGraphicFramePr>
        <p:xfrm>
          <a:off x="4378818" y="2202286"/>
          <a:ext cx="4327302" cy="1517262"/>
        </p:xfrm>
        <a:graphic>
          <a:graphicData uri="http://schemas.openxmlformats.org/drawingml/2006/table">
            <a:tbl>
              <a:tblPr firstRow="1" bandRow="1">
                <a:tableStyleId>{5C22544A-7EE6-4342-B048-85BDC9FD1C3A}</a:tableStyleId>
              </a:tblPr>
              <a:tblGrid>
                <a:gridCol w="1886289"/>
                <a:gridCol w="1278448"/>
                <a:gridCol w="1162565"/>
              </a:tblGrid>
              <a:tr h="537363">
                <a:tc>
                  <a:txBody>
                    <a:bodyPr/>
                    <a:lstStyle/>
                    <a:p>
                      <a:pPr algn="ctr"/>
                      <a:r>
                        <a:rPr lang="fr-BE" sz="1400" dirty="0" smtClean="0"/>
                        <a:t>Fournisseur</a:t>
                      </a:r>
                      <a:endParaRPr lang="fr-BE" sz="1400" dirty="0"/>
                    </a:p>
                  </a:txBody>
                  <a:tcPr anchor="ctr"/>
                </a:tc>
                <a:tc>
                  <a:txBody>
                    <a:bodyPr/>
                    <a:lstStyle/>
                    <a:p>
                      <a:pPr algn="ctr"/>
                      <a:r>
                        <a:rPr lang="fr-BE" sz="1400" dirty="0" smtClean="0"/>
                        <a:t>Projet</a:t>
                      </a:r>
                      <a:endParaRPr lang="fr-BE" sz="1400" dirty="0"/>
                    </a:p>
                  </a:txBody>
                  <a:tcPr anchor="ctr"/>
                </a:tc>
                <a:tc>
                  <a:txBody>
                    <a:bodyPr/>
                    <a:lstStyle/>
                    <a:p>
                      <a:pPr algn="ctr"/>
                      <a:r>
                        <a:rPr lang="fr-BE" sz="1400" dirty="0" smtClean="0"/>
                        <a:t>Pièce</a:t>
                      </a:r>
                      <a:endParaRPr lang="fr-BE" sz="1400" dirty="0"/>
                    </a:p>
                  </a:txBody>
                  <a:tcPr anchor="ctr"/>
                </a:tc>
              </a:tr>
              <a:tr h="979899">
                <a:tc>
                  <a:txBody>
                    <a:bodyPr/>
                    <a:lstStyle/>
                    <a:p>
                      <a:r>
                        <a:rPr lang="fr-BE" sz="1400" dirty="0" smtClean="0"/>
                        <a:t>Dupont</a:t>
                      </a:r>
                    </a:p>
                    <a:p>
                      <a:r>
                        <a:rPr lang="fr-BE" sz="1400" dirty="0" smtClean="0"/>
                        <a:t>Durand</a:t>
                      </a:r>
                    </a:p>
                    <a:p>
                      <a:r>
                        <a:rPr lang="fr-BE" sz="1400" dirty="0" smtClean="0"/>
                        <a:t>Dupont</a:t>
                      </a:r>
                      <a:endParaRPr lang="fr-BE" sz="1400" dirty="0"/>
                    </a:p>
                  </a:txBody>
                  <a:tcPr/>
                </a:tc>
                <a:tc>
                  <a:txBody>
                    <a:bodyPr/>
                    <a:lstStyle/>
                    <a:p>
                      <a:r>
                        <a:rPr lang="fr-BE" sz="1400" dirty="0" smtClean="0"/>
                        <a:t>Proj1</a:t>
                      </a:r>
                    </a:p>
                    <a:p>
                      <a:r>
                        <a:rPr lang="fr-BE" sz="1400" dirty="0" smtClean="0"/>
                        <a:t>Proj1</a:t>
                      </a:r>
                    </a:p>
                    <a:p>
                      <a:r>
                        <a:rPr lang="fr-BE" sz="1400" dirty="0" smtClean="0"/>
                        <a:t>Proj2</a:t>
                      </a:r>
                      <a:endParaRPr lang="fr-BE" sz="1400" dirty="0"/>
                    </a:p>
                  </a:txBody>
                  <a:tcPr/>
                </a:tc>
                <a:tc>
                  <a:txBody>
                    <a:bodyPr/>
                    <a:lstStyle/>
                    <a:p>
                      <a:r>
                        <a:rPr lang="fr-BE" sz="1400" dirty="0" smtClean="0"/>
                        <a:t>Fusain</a:t>
                      </a:r>
                    </a:p>
                    <a:p>
                      <a:r>
                        <a:rPr lang="fr-BE" sz="1400" dirty="0" smtClean="0"/>
                        <a:t>Papier</a:t>
                      </a:r>
                    </a:p>
                    <a:p>
                      <a:r>
                        <a:rPr lang="fr-BE" sz="1400" dirty="0" smtClean="0"/>
                        <a:t>Papier</a:t>
                      </a:r>
                    </a:p>
                  </a:txBody>
                  <a:tcPr/>
                </a:tc>
              </a:tr>
            </a:tbl>
          </a:graphicData>
        </a:graphic>
      </p:graphicFrame>
      <p:graphicFrame>
        <p:nvGraphicFramePr>
          <p:cNvPr id="5" name="Tableau 4"/>
          <p:cNvGraphicFramePr>
            <a:graphicFrameLocks noGrp="1"/>
          </p:cNvGraphicFramePr>
          <p:nvPr>
            <p:extLst>
              <p:ext uri="{D42A27DB-BD31-4B8C-83A1-F6EECF244321}">
                <p14:modId xmlns:p14="http://schemas.microsoft.com/office/powerpoint/2010/main" xmlns="" val="665367722"/>
              </p:ext>
            </p:extLst>
          </p:nvPr>
        </p:nvGraphicFramePr>
        <p:xfrm>
          <a:off x="2936385" y="4230176"/>
          <a:ext cx="2171643" cy="1127435"/>
        </p:xfrm>
        <a:graphic>
          <a:graphicData uri="http://schemas.openxmlformats.org/drawingml/2006/table">
            <a:tbl>
              <a:tblPr firstRow="1" bandRow="1">
                <a:tableStyleId>{5C22544A-7EE6-4342-B048-85BDC9FD1C3A}</a:tableStyleId>
              </a:tblPr>
              <a:tblGrid>
                <a:gridCol w="1348090"/>
                <a:gridCol w="823553"/>
              </a:tblGrid>
              <a:tr h="379276">
                <a:tc>
                  <a:txBody>
                    <a:bodyPr/>
                    <a:lstStyle/>
                    <a:p>
                      <a:pPr algn="ctr"/>
                      <a:r>
                        <a:rPr lang="fr-BE" sz="1400" dirty="0" smtClean="0"/>
                        <a:t>Fournisseur</a:t>
                      </a:r>
                      <a:endParaRPr lang="fr-BE" sz="1400" dirty="0"/>
                    </a:p>
                  </a:txBody>
                  <a:tcPr anchor="ctr"/>
                </a:tc>
                <a:tc>
                  <a:txBody>
                    <a:bodyPr/>
                    <a:lstStyle/>
                    <a:p>
                      <a:pPr algn="ctr"/>
                      <a:r>
                        <a:rPr lang="fr-BE" sz="1400" dirty="0" smtClean="0"/>
                        <a:t>Projet</a:t>
                      </a:r>
                      <a:endParaRPr lang="fr-BE" sz="1400" dirty="0"/>
                    </a:p>
                  </a:txBody>
                  <a:tcPr anchor="ctr"/>
                </a:tc>
              </a:tr>
              <a:tr h="748159">
                <a:tc>
                  <a:txBody>
                    <a:bodyPr/>
                    <a:lstStyle/>
                    <a:p>
                      <a:r>
                        <a:rPr lang="fr-BE" sz="1400" dirty="0" smtClean="0"/>
                        <a:t>Dupont</a:t>
                      </a:r>
                    </a:p>
                    <a:p>
                      <a:r>
                        <a:rPr lang="fr-BE" sz="1400" dirty="0" smtClean="0"/>
                        <a:t>Durand</a:t>
                      </a:r>
                    </a:p>
                    <a:p>
                      <a:r>
                        <a:rPr lang="fr-BE" sz="1400" dirty="0" smtClean="0"/>
                        <a:t>Dupont</a:t>
                      </a:r>
                      <a:endParaRPr lang="fr-BE" sz="1400" dirty="0"/>
                    </a:p>
                  </a:txBody>
                  <a:tcPr/>
                </a:tc>
                <a:tc>
                  <a:txBody>
                    <a:bodyPr/>
                    <a:lstStyle/>
                    <a:p>
                      <a:r>
                        <a:rPr lang="fr-BE" sz="1400" dirty="0" smtClean="0"/>
                        <a:t>Proj1</a:t>
                      </a:r>
                    </a:p>
                    <a:p>
                      <a:r>
                        <a:rPr lang="fr-BE" sz="1400" dirty="0" smtClean="0"/>
                        <a:t>Proj1</a:t>
                      </a:r>
                    </a:p>
                    <a:p>
                      <a:r>
                        <a:rPr lang="fr-BE" sz="1400" dirty="0" smtClean="0"/>
                        <a:t>Proj2</a:t>
                      </a:r>
                      <a:endParaRPr lang="fr-BE" sz="1400" dirty="0"/>
                    </a:p>
                  </a:txBody>
                  <a:tcPr/>
                </a:tc>
              </a:tr>
            </a:tbl>
          </a:graphicData>
        </a:graphic>
      </p:graphicFrame>
      <p:graphicFrame>
        <p:nvGraphicFramePr>
          <p:cNvPr id="6" name="Tableau 5"/>
          <p:cNvGraphicFramePr>
            <a:graphicFrameLocks noGrp="1"/>
          </p:cNvGraphicFramePr>
          <p:nvPr>
            <p:extLst>
              <p:ext uri="{D42A27DB-BD31-4B8C-83A1-F6EECF244321}">
                <p14:modId xmlns:p14="http://schemas.microsoft.com/office/powerpoint/2010/main" xmlns="" val="2346710980"/>
              </p:ext>
            </p:extLst>
          </p:nvPr>
        </p:nvGraphicFramePr>
        <p:xfrm>
          <a:off x="5640942" y="4255939"/>
          <a:ext cx="1927898" cy="1093464"/>
        </p:xfrm>
        <a:graphic>
          <a:graphicData uri="http://schemas.openxmlformats.org/drawingml/2006/table">
            <a:tbl>
              <a:tblPr firstRow="1" bandRow="1">
                <a:tableStyleId>{5C22544A-7EE6-4342-B048-85BDC9FD1C3A}</a:tableStyleId>
              </a:tblPr>
              <a:tblGrid>
                <a:gridCol w="1009710"/>
                <a:gridCol w="918188"/>
              </a:tblGrid>
              <a:tr h="361944">
                <a:tc>
                  <a:txBody>
                    <a:bodyPr/>
                    <a:lstStyle/>
                    <a:p>
                      <a:pPr algn="ctr"/>
                      <a:r>
                        <a:rPr lang="fr-BE" sz="1400" dirty="0" smtClean="0"/>
                        <a:t>Projet</a:t>
                      </a:r>
                      <a:endParaRPr lang="fr-BE" sz="1400" dirty="0"/>
                    </a:p>
                  </a:txBody>
                  <a:tcPr anchor="ctr"/>
                </a:tc>
                <a:tc>
                  <a:txBody>
                    <a:bodyPr/>
                    <a:lstStyle/>
                    <a:p>
                      <a:pPr algn="ctr"/>
                      <a:r>
                        <a:rPr lang="fr-BE" sz="1400" dirty="0" smtClean="0"/>
                        <a:t>Pièce</a:t>
                      </a:r>
                      <a:endParaRPr lang="fr-BE" sz="1400" dirty="0"/>
                    </a:p>
                  </a:txBody>
                  <a:tcPr anchor="ctr"/>
                </a:tc>
              </a:tr>
              <a:tr h="713971">
                <a:tc>
                  <a:txBody>
                    <a:bodyPr/>
                    <a:lstStyle/>
                    <a:p>
                      <a:r>
                        <a:rPr lang="fr-BE" sz="1400" dirty="0" smtClean="0"/>
                        <a:t>Proj1</a:t>
                      </a:r>
                    </a:p>
                    <a:p>
                      <a:r>
                        <a:rPr lang="fr-BE" sz="1400" dirty="0" smtClean="0"/>
                        <a:t>Proj1</a:t>
                      </a:r>
                    </a:p>
                    <a:p>
                      <a:r>
                        <a:rPr lang="fr-BE" sz="1400" dirty="0" smtClean="0"/>
                        <a:t>Proj2</a:t>
                      </a:r>
                      <a:endParaRPr lang="fr-BE" sz="1400" dirty="0"/>
                    </a:p>
                  </a:txBody>
                  <a:tcPr/>
                </a:tc>
                <a:tc>
                  <a:txBody>
                    <a:bodyPr/>
                    <a:lstStyle/>
                    <a:p>
                      <a:r>
                        <a:rPr lang="fr-BE" sz="1400" dirty="0" smtClean="0"/>
                        <a:t>Fusain</a:t>
                      </a:r>
                    </a:p>
                    <a:p>
                      <a:r>
                        <a:rPr lang="fr-BE" sz="1400" dirty="0" smtClean="0"/>
                        <a:t>Papier</a:t>
                      </a:r>
                    </a:p>
                    <a:p>
                      <a:r>
                        <a:rPr lang="fr-BE" sz="1400" dirty="0" smtClean="0"/>
                        <a:t>Papier</a:t>
                      </a:r>
                    </a:p>
                  </a:txBody>
                  <a:tcPr/>
                </a:tc>
              </a:tr>
            </a:tbl>
          </a:graphicData>
        </a:graphic>
      </p:graphicFrame>
      <p:graphicFrame>
        <p:nvGraphicFramePr>
          <p:cNvPr id="7" name="Tableau 6"/>
          <p:cNvGraphicFramePr>
            <a:graphicFrameLocks noGrp="1"/>
          </p:cNvGraphicFramePr>
          <p:nvPr>
            <p:extLst>
              <p:ext uri="{D42A27DB-BD31-4B8C-83A1-F6EECF244321}">
                <p14:modId xmlns:p14="http://schemas.microsoft.com/office/powerpoint/2010/main" xmlns="" val="334469275"/>
              </p:ext>
            </p:extLst>
          </p:nvPr>
        </p:nvGraphicFramePr>
        <p:xfrm>
          <a:off x="8042834" y="4277063"/>
          <a:ext cx="2165221" cy="1067669"/>
        </p:xfrm>
        <a:graphic>
          <a:graphicData uri="http://schemas.openxmlformats.org/drawingml/2006/table">
            <a:tbl>
              <a:tblPr firstRow="1" bandRow="1">
                <a:tableStyleId>{5C22544A-7EE6-4342-B048-85BDC9FD1C3A}</a:tableStyleId>
              </a:tblPr>
              <a:tblGrid>
                <a:gridCol w="1339595"/>
                <a:gridCol w="825626"/>
              </a:tblGrid>
              <a:tr h="336149">
                <a:tc>
                  <a:txBody>
                    <a:bodyPr/>
                    <a:lstStyle/>
                    <a:p>
                      <a:pPr algn="ctr"/>
                      <a:r>
                        <a:rPr lang="fr-BE" sz="1400" dirty="0" smtClean="0"/>
                        <a:t>Fournisseur</a:t>
                      </a:r>
                      <a:endParaRPr lang="fr-BE" sz="1400" dirty="0"/>
                    </a:p>
                  </a:txBody>
                  <a:tcPr anchor="ctr"/>
                </a:tc>
                <a:tc>
                  <a:txBody>
                    <a:bodyPr/>
                    <a:lstStyle/>
                    <a:p>
                      <a:pPr algn="ctr"/>
                      <a:r>
                        <a:rPr lang="fr-BE" sz="1400" dirty="0" smtClean="0"/>
                        <a:t>Pièce</a:t>
                      </a:r>
                      <a:endParaRPr lang="fr-BE" sz="1400" dirty="0"/>
                    </a:p>
                  </a:txBody>
                  <a:tcPr anchor="ctr"/>
                </a:tc>
              </a:tr>
              <a:tr h="612979">
                <a:tc>
                  <a:txBody>
                    <a:bodyPr/>
                    <a:lstStyle/>
                    <a:p>
                      <a:r>
                        <a:rPr lang="fr-BE" sz="1400" dirty="0" smtClean="0"/>
                        <a:t>Dupont</a:t>
                      </a:r>
                    </a:p>
                    <a:p>
                      <a:r>
                        <a:rPr lang="fr-BE" sz="1400" dirty="0" smtClean="0"/>
                        <a:t>Durand</a:t>
                      </a:r>
                    </a:p>
                    <a:p>
                      <a:r>
                        <a:rPr lang="fr-BE" sz="1400" dirty="0" smtClean="0"/>
                        <a:t>Dupont</a:t>
                      </a:r>
                      <a:endParaRPr lang="fr-BE" sz="1400" dirty="0"/>
                    </a:p>
                  </a:txBody>
                  <a:tcPr/>
                </a:tc>
                <a:tc>
                  <a:txBody>
                    <a:bodyPr/>
                    <a:lstStyle/>
                    <a:p>
                      <a:r>
                        <a:rPr lang="fr-BE" sz="1400" dirty="0" smtClean="0"/>
                        <a:t>Fusain</a:t>
                      </a:r>
                    </a:p>
                    <a:p>
                      <a:r>
                        <a:rPr lang="fr-BE" sz="1400" dirty="0" smtClean="0"/>
                        <a:t>Papier</a:t>
                      </a:r>
                    </a:p>
                    <a:p>
                      <a:r>
                        <a:rPr lang="fr-BE" sz="1400" dirty="0" smtClean="0"/>
                        <a:t>Papier</a:t>
                      </a:r>
                    </a:p>
                  </a:txBody>
                  <a:tcPr/>
                </a:tc>
              </a:tr>
            </a:tbl>
          </a:graphicData>
        </a:graphic>
      </p:graphicFrame>
      <p:sp>
        <p:nvSpPr>
          <p:cNvPr id="8" name="ZoneTexte 7"/>
          <p:cNvSpPr txBox="1"/>
          <p:nvPr/>
        </p:nvSpPr>
        <p:spPr>
          <a:xfrm>
            <a:off x="4378818" y="1748875"/>
            <a:ext cx="4262906" cy="369332"/>
          </a:xfrm>
          <a:prstGeom prst="rect">
            <a:avLst/>
          </a:prstGeom>
          <a:noFill/>
        </p:spPr>
        <p:txBody>
          <a:bodyPr wrap="square" rtlCol="0">
            <a:spAutoFit/>
          </a:bodyPr>
          <a:lstStyle/>
          <a:p>
            <a:pPr algn="ctr"/>
            <a:r>
              <a:rPr lang="fr-BE" dirty="0" smtClean="0">
                <a:latin typeface="Myriad Pro" panose="020B0503030403020204" pitchFamily="34" charset="0"/>
              </a:rPr>
              <a:t>Approvisionner</a:t>
            </a:r>
            <a:endParaRPr lang="fr-BE" dirty="0">
              <a:latin typeface="Myriad Pro" panose="020B0503030403020204" pitchFamily="34" charset="0"/>
            </a:endParaRPr>
          </a:p>
        </p:txBody>
      </p:sp>
      <p:sp>
        <p:nvSpPr>
          <p:cNvPr id="9" name="ZoneTexte 8"/>
          <p:cNvSpPr txBox="1"/>
          <p:nvPr/>
        </p:nvSpPr>
        <p:spPr>
          <a:xfrm>
            <a:off x="8101600" y="3829938"/>
            <a:ext cx="2059831" cy="369332"/>
          </a:xfrm>
          <a:prstGeom prst="rect">
            <a:avLst/>
          </a:prstGeom>
          <a:noFill/>
        </p:spPr>
        <p:txBody>
          <a:bodyPr wrap="square" rtlCol="0">
            <a:spAutoFit/>
          </a:bodyPr>
          <a:lstStyle/>
          <a:p>
            <a:pPr algn="ctr"/>
            <a:r>
              <a:rPr lang="fr-BE" dirty="0" smtClean="0">
                <a:latin typeface="Myriad Pro" panose="020B0503030403020204" pitchFamily="34" charset="0"/>
              </a:rPr>
              <a:t>Fournir</a:t>
            </a:r>
            <a:endParaRPr lang="fr-BE" dirty="0">
              <a:latin typeface="Myriad Pro" panose="020B0503030403020204" pitchFamily="34" charset="0"/>
            </a:endParaRPr>
          </a:p>
        </p:txBody>
      </p:sp>
      <p:sp>
        <p:nvSpPr>
          <p:cNvPr id="10" name="ZoneTexte 9"/>
          <p:cNvSpPr txBox="1"/>
          <p:nvPr/>
        </p:nvSpPr>
        <p:spPr>
          <a:xfrm>
            <a:off x="5666704" y="3829938"/>
            <a:ext cx="1854557" cy="369332"/>
          </a:xfrm>
          <a:prstGeom prst="rect">
            <a:avLst/>
          </a:prstGeom>
          <a:noFill/>
        </p:spPr>
        <p:txBody>
          <a:bodyPr wrap="square" rtlCol="0">
            <a:spAutoFit/>
          </a:bodyPr>
          <a:lstStyle/>
          <a:p>
            <a:pPr algn="ctr"/>
            <a:r>
              <a:rPr lang="fr-BE" dirty="0" smtClean="0">
                <a:latin typeface="Myriad Pro" panose="020B0503030403020204" pitchFamily="34" charset="0"/>
              </a:rPr>
              <a:t>Utiliser</a:t>
            </a:r>
            <a:endParaRPr lang="fr-BE" dirty="0">
              <a:latin typeface="Myriad Pro" panose="020B0503030403020204" pitchFamily="34" charset="0"/>
            </a:endParaRPr>
          </a:p>
        </p:txBody>
      </p:sp>
      <p:sp>
        <p:nvSpPr>
          <p:cNvPr id="11" name="ZoneTexte 10"/>
          <p:cNvSpPr txBox="1"/>
          <p:nvPr/>
        </p:nvSpPr>
        <p:spPr>
          <a:xfrm>
            <a:off x="2987899" y="3829938"/>
            <a:ext cx="2098466" cy="369332"/>
          </a:xfrm>
          <a:prstGeom prst="rect">
            <a:avLst/>
          </a:prstGeom>
          <a:noFill/>
        </p:spPr>
        <p:txBody>
          <a:bodyPr wrap="square" rtlCol="0">
            <a:spAutoFit/>
          </a:bodyPr>
          <a:lstStyle/>
          <a:p>
            <a:pPr algn="ctr"/>
            <a:r>
              <a:rPr lang="fr-BE" dirty="0" smtClean="0">
                <a:latin typeface="Myriad Pro" panose="020B0503030403020204" pitchFamily="34" charset="0"/>
              </a:rPr>
              <a:t>Approvisionner</a:t>
            </a:r>
            <a:endParaRPr lang="fr-BE" dirty="0">
              <a:latin typeface="Myriad Pro" panose="020B0503030403020204" pitchFamily="34" charset="0"/>
            </a:endParaRPr>
          </a:p>
        </p:txBody>
      </p:sp>
    </p:spTree>
    <p:extLst>
      <p:ext uri="{BB962C8B-B14F-4D97-AF65-F5344CB8AC3E}">
        <p14:creationId xmlns:p14="http://schemas.microsoft.com/office/powerpoint/2010/main" xmlns="" val="40518575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sz="4000" dirty="0" smtClean="0">
                <a:latin typeface="Myriad Pro" panose="020B0503030403020204" pitchFamily="34" charset="0"/>
              </a:rPr>
              <a:t>Rôles d’une association</a:t>
            </a:r>
            <a:endParaRPr lang="fr-BE" sz="4000" dirty="0">
              <a:latin typeface="Myriad Pro" panose="020B0503030403020204" pitchFamily="34" charset="0"/>
            </a:endParaRPr>
          </a:p>
        </p:txBody>
      </p:sp>
      <p:sp>
        <p:nvSpPr>
          <p:cNvPr id="3" name="Espace réservé du contenu 2"/>
          <p:cNvSpPr>
            <a:spLocks noGrp="1"/>
          </p:cNvSpPr>
          <p:nvPr>
            <p:ph sz="quarter" idx="1"/>
          </p:nvPr>
        </p:nvSpPr>
        <p:spPr/>
        <p:txBody>
          <a:bodyPr>
            <a:normAutofit/>
          </a:bodyPr>
          <a:lstStyle/>
          <a:p>
            <a:pPr>
              <a:buClrTx/>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Les rôles constituent </a:t>
            </a:r>
            <a:r>
              <a:rPr lang="fr-BE" sz="2400" dirty="0">
                <a:latin typeface="Myriad Pro" panose="020B0503030403020204" pitchFamily="34" charset="0"/>
                <a:cs typeface="Arial" panose="020B0604020202020204" pitchFamily="34" charset="0"/>
              </a:rPr>
              <a:t>une alternative au nom d’une </a:t>
            </a:r>
            <a:r>
              <a:rPr lang="fr-BE" sz="2400" dirty="0" smtClean="0">
                <a:latin typeface="Myriad Pro" panose="020B0503030403020204" pitchFamily="34" charset="0"/>
                <a:cs typeface="Arial" panose="020B0604020202020204" pitchFamily="34" charset="0"/>
              </a:rPr>
              <a:t>association – permet de faciliter la lecture d’une association</a:t>
            </a:r>
            <a:endParaRPr lang="fr-BE" sz="2400" dirty="0">
              <a:latin typeface="Myriad Pro" panose="020B0503030403020204" pitchFamily="34" charset="0"/>
              <a:cs typeface="Arial" panose="020B0604020202020204" pitchFamily="34" charset="0"/>
            </a:endParaRPr>
          </a:p>
          <a:p>
            <a:pPr>
              <a:buClrTx/>
              <a:buSzPct val="110000"/>
              <a:buFont typeface="Arial" panose="020B0604020202020204" pitchFamily="34" charset="0"/>
              <a:buChar char="•"/>
            </a:pPr>
            <a:endParaRPr lang="fr-BE" sz="2400" dirty="0" smtClean="0">
              <a:latin typeface="Myriad Pro" panose="020B0503030403020204" pitchFamily="34" charset="0"/>
              <a:cs typeface="Arial" panose="020B0604020202020204" pitchFamily="34" charset="0"/>
            </a:endParaRPr>
          </a:p>
          <a:p>
            <a:pPr>
              <a:buClrTx/>
              <a:buSzPct val="110000"/>
              <a:buFont typeface="Arial" panose="020B0604020202020204" pitchFamily="34" charset="0"/>
              <a:buChar char="•"/>
            </a:pPr>
            <a:endParaRPr lang="fr-BE" sz="2400" dirty="0" smtClean="0">
              <a:latin typeface="Myriad Pro" panose="020B0503030403020204" pitchFamily="34" charset="0"/>
              <a:cs typeface="Arial" panose="020B0604020202020204" pitchFamily="34" charset="0"/>
            </a:endParaRPr>
          </a:p>
          <a:p>
            <a:pPr>
              <a:buClrTx/>
              <a:buSzPct val="110000"/>
              <a:buFont typeface="Arial" panose="020B0604020202020204" pitchFamily="34" charset="0"/>
              <a:buChar char="•"/>
            </a:pPr>
            <a:endParaRPr lang="fr-BE" sz="2400" dirty="0">
              <a:latin typeface="Myriad Pro" panose="020B0503030403020204" pitchFamily="34" charset="0"/>
              <a:cs typeface="Arial" panose="020B0604020202020204" pitchFamily="34" charset="0"/>
            </a:endParaRPr>
          </a:p>
          <a:p>
            <a:pPr>
              <a:buClrTx/>
              <a:buSzPct val="110000"/>
              <a:buFont typeface="Arial" panose="020B0604020202020204" pitchFamily="34" charset="0"/>
              <a:buChar char="•"/>
            </a:pPr>
            <a:endParaRPr lang="fr-BE" sz="2400" dirty="0" smtClean="0">
              <a:latin typeface="Myriad Pro" panose="020B0503030403020204" pitchFamily="34" charset="0"/>
              <a:cs typeface="Arial" panose="020B0604020202020204" pitchFamily="34" charset="0"/>
            </a:endParaRPr>
          </a:p>
          <a:p>
            <a:pPr>
              <a:buClrTx/>
              <a:buSzPct val="110000"/>
              <a:buFont typeface="Arial" panose="020B0604020202020204" pitchFamily="34" charset="0"/>
              <a:buChar char="•"/>
            </a:pPr>
            <a:endParaRPr lang="fr-BE" sz="2400" dirty="0">
              <a:latin typeface="Myriad Pro" panose="020B0503030403020204" pitchFamily="34" charset="0"/>
              <a:cs typeface="Arial" panose="020B0604020202020204" pitchFamily="34" charset="0"/>
            </a:endParaRPr>
          </a:p>
          <a:p>
            <a:pPr>
              <a:buClrTx/>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Les rôles sont obligatoires pour décrire une association unaire</a:t>
            </a:r>
          </a:p>
        </p:txBody>
      </p:sp>
      <p:pic>
        <p:nvPicPr>
          <p:cNvPr id="4" name="Image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2601530" y="2708144"/>
            <a:ext cx="6280837" cy="1592324"/>
          </a:xfrm>
          <a:prstGeom prst="rect">
            <a:avLst/>
          </a:prstGeom>
        </p:spPr>
      </p:pic>
    </p:spTree>
    <p:extLst>
      <p:ext uri="{BB962C8B-B14F-4D97-AF65-F5344CB8AC3E}">
        <p14:creationId xmlns:p14="http://schemas.microsoft.com/office/powerpoint/2010/main" xmlns="" val="417604415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sz="4000" dirty="0" smtClean="0">
                <a:latin typeface="Myriad Pro" panose="020B0503030403020204" pitchFamily="34" charset="0"/>
              </a:rPr>
              <a:t>Association unaire</a:t>
            </a:r>
            <a:endParaRPr lang="fr-BE" sz="4000" dirty="0">
              <a:latin typeface="Myriad Pro" panose="020B0503030403020204" pitchFamily="34" charset="0"/>
            </a:endParaRPr>
          </a:p>
        </p:txBody>
      </p:sp>
      <p:pic>
        <p:nvPicPr>
          <p:cNvPr id="4" name="Espace réservé du contenu 3"/>
          <p:cNvPicPr>
            <a:picLocks noGrp="1" noChangeAspect="1"/>
          </p:cNvPicPr>
          <p:nvPr>
            <p:ph sz="quarter" idx="1"/>
          </p:nvPr>
        </p:nvPicPr>
        <p:blipFill>
          <a:blip r:embed="rId2" cstate="print">
            <a:extLst>
              <a:ext uri="{28A0092B-C50C-407E-A947-70E740481C1C}">
                <a14:useLocalDpi xmlns:a14="http://schemas.microsoft.com/office/drawing/2010/main" xmlns="" val="0"/>
              </a:ext>
            </a:extLst>
          </a:blip>
          <a:stretch>
            <a:fillRect/>
          </a:stretch>
        </p:blipFill>
        <p:spPr>
          <a:xfrm>
            <a:off x="2112132" y="3368669"/>
            <a:ext cx="3906736" cy="1532642"/>
          </a:xfrm>
        </p:spPr>
      </p:pic>
      <p:sp>
        <p:nvSpPr>
          <p:cNvPr id="5" name="ZoneTexte 4"/>
          <p:cNvSpPr txBox="1"/>
          <p:nvPr/>
        </p:nvSpPr>
        <p:spPr>
          <a:xfrm>
            <a:off x="816864" y="1905000"/>
            <a:ext cx="10325269" cy="830997"/>
          </a:xfrm>
          <a:prstGeom prst="rect">
            <a:avLst/>
          </a:prstGeom>
          <a:noFill/>
        </p:spPr>
        <p:txBody>
          <a:bodyPr wrap="square" rtlCol="0">
            <a:spAutoFit/>
          </a:bodyPr>
          <a:lstStyle/>
          <a:p>
            <a:pPr marL="342900" indent="-342900">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L’association unaire (cyclique) </a:t>
            </a:r>
            <a:r>
              <a:rPr lang="fr-BE" sz="2400" dirty="0">
                <a:latin typeface="Myriad Pro" panose="020B0503030403020204" pitchFamily="34" charset="0"/>
                <a:cs typeface="Arial" panose="020B0604020202020204" pitchFamily="34" charset="0"/>
              </a:rPr>
              <a:t>implique une ou plusieurs </a:t>
            </a:r>
            <a:r>
              <a:rPr lang="fr-BE" sz="2400" dirty="0" smtClean="0">
                <a:latin typeface="Myriad Pro" panose="020B0503030403020204" pitchFamily="34" charset="0"/>
                <a:cs typeface="Arial" panose="020B0604020202020204" pitchFamily="34" charset="0"/>
              </a:rPr>
              <a:t>fois la même entité</a:t>
            </a:r>
            <a:endParaRPr lang="fr-BE" sz="2400" dirty="0">
              <a:latin typeface="Myriad Pro" panose="020B0503030403020204" pitchFamily="34" charset="0"/>
              <a:cs typeface="Arial" panose="020B0604020202020204" pitchFamily="34" charset="0"/>
            </a:endParaRPr>
          </a:p>
          <a:p>
            <a:pPr marL="342900" indent="-342900">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Les rôles sont obligatoires pour définir le sens de lecture de l’association</a:t>
            </a:r>
            <a:endParaRPr lang="fr-BE" sz="2400" dirty="0">
              <a:latin typeface="Myriad Pro" panose="020B0503030403020204" pitchFamily="34" charset="0"/>
              <a:cs typeface="Arial" panose="020B0604020202020204" pitchFamily="34" charset="0"/>
            </a:endParaRPr>
          </a:p>
        </p:txBody>
      </p:sp>
      <p:sp>
        <p:nvSpPr>
          <p:cNvPr id="3" name="ZoneTexte 2"/>
          <p:cNvSpPr txBox="1"/>
          <p:nvPr/>
        </p:nvSpPr>
        <p:spPr>
          <a:xfrm>
            <a:off x="8228385" y="2920663"/>
            <a:ext cx="426720" cy="369332"/>
          </a:xfrm>
          <a:prstGeom prst="rect">
            <a:avLst/>
          </a:prstGeom>
          <a:noFill/>
        </p:spPr>
        <p:txBody>
          <a:bodyPr wrap="none" rtlCol="0">
            <a:spAutoFit/>
          </a:bodyPr>
          <a:lstStyle/>
          <a:p>
            <a:r>
              <a:rPr lang="fr-BE" dirty="0" smtClean="0"/>
              <a:t>e5</a:t>
            </a:r>
            <a:endParaRPr lang="fr-BE" dirty="0"/>
          </a:p>
        </p:txBody>
      </p:sp>
      <p:sp>
        <p:nvSpPr>
          <p:cNvPr id="8" name="ZoneTexte 7"/>
          <p:cNvSpPr txBox="1"/>
          <p:nvPr/>
        </p:nvSpPr>
        <p:spPr>
          <a:xfrm>
            <a:off x="6906950" y="5401734"/>
            <a:ext cx="426720" cy="369332"/>
          </a:xfrm>
          <a:prstGeom prst="rect">
            <a:avLst/>
          </a:prstGeom>
          <a:noFill/>
        </p:spPr>
        <p:txBody>
          <a:bodyPr wrap="none" rtlCol="0">
            <a:spAutoFit/>
          </a:bodyPr>
          <a:lstStyle/>
          <a:p>
            <a:r>
              <a:rPr lang="fr-BE" dirty="0" smtClean="0"/>
              <a:t>e2</a:t>
            </a:r>
            <a:endParaRPr lang="fr-BE" dirty="0"/>
          </a:p>
        </p:txBody>
      </p:sp>
      <p:sp>
        <p:nvSpPr>
          <p:cNvPr id="9" name="ZoneTexte 8"/>
          <p:cNvSpPr txBox="1"/>
          <p:nvPr/>
        </p:nvSpPr>
        <p:spPr>
          <a:xfrm>
            <a:off x="8027803" y="5401734"/>
            <a:ext cx="426720" cy="369332"/>
          </a:xfrm>
          <a:prstGeom prst="rect">
            <a:avLst/>
          </a:prstGeom>
          <a:noFill/>
        </p:spPr>
        <p:txBody>
          <a:bodyPr wrap="none" rtlCol="0">
            <a:spAutoFit/>
          </a:bodyPr>
          <a:lstStyle/>
          <a:p>
            <a:r>
              <a:rPr lang="fr-BE" dirty="0" smtClean="0"/>
              <a:t>e3</a:t>
            </a:r>
            <a:endParaRPr lang="fr-BE" dirty="0"/>
          </a:p>
        </p:txBody>
      </p:sp>
      <p:sp>
        <p:nvSpPr>
          <p:cNvPr id="10" name="ZoneTexte 9"/>
          <p:cNvSpPr txBox="1"/>
          <p:nvPr/>
        </p:nvSpPr>
        <p:spPr>
          <a:xfrm>
            <a:off x="8642885" y="5405696"/>
            <a:ext cx="426720" cy="369332"/>
          </a:xfrm>
          <a:prstGeom prst="rect">
            <a:avLst/>
          </a:prstGeom>
          <a:noFill/>
        </p:spPr>
        <p:txBody>
          <a:bodyPr wrap="none" rtlCol="0">
            <a:spAutoFit/>
          </a:bodyPr>
          <a:lstStyle/>
          <a:p>
            <a:r>
              <a:rPr lang="fr-BE" dirty="0" smtClean="0"/>
              <a:t>e6</a:t>
            </a:r>
            <a:endParaRPr lang="fr-BE" dirty="0"/>
          </a:p>
        </p:txBody>
      </p:sp>
      <p:sp>
        <p:nvSpPr>
          <p:cNvPr id="11" name="ZoneTexte 10"/>
          <p:cNvSpPr txBox="1"/>
          <p:nvPr/>
        </p:nvSpPr>
        <p:spPr>
          <a:xfrm>
            <a:off x="9163507" y="4367980"/>
            <a:ext cx="426720" cy="369332"/>
          </a:xfrm>
          <a:prstGeom prst="rect">
            <a:avLst/>
          </a:prstGeom>
          <a:noFill/>
        </p:spPr>
        <p:txBody>
          <a:bodyPr wrap="none" rtlCol="0">
            <a:spAutoFit/>
          </a:bodyPr>
          <a:lstStyle/>
          <a:p>
            <a:r>
              <a:rPr lang="fr-BE" dirty="0" smtClean="0"/>
              <a:t>e4</a:t>
            </a:r>
            <a:endParaRPr lang="fr-BE" dirty="0"/>
          </a:p>
        </p:txBody>
      </p:sp>
      <p:sp>
        <p:nvSpPr>
          <p:cNvPr id="12" name="ZoneTexte 11"/>
          <p:cNvSpPr txBox="1"/>
          <p:nvPr/>
        </p:nvSpPr>
        <p:spPr>
          <a:xfrm>
            <a:off x="9734333" y="5401734"/>
            <a:ext cx="426720" cy="369332"/>
          </a:xfrm>
          <a:prstGeom prst="rect">
            <a:avLst/>
          </a:prstGeom>
          <a:noFill/>
        </p:spPr>
        <p:txBody>
          <a:bodyPr wrap="none" rtlCol="0">
            <a:spAutoFit/>
          </a:bodyPr>
          <a:lstStyle/>
          <a:p>
            <a:r>
              <a:rPr lang="fr-BE" dirty="0" smtClean="0"/>
              <a:t>e7</a:t>
            </a:r>
            <a:endParaRPr lang="fr-BE" dirty="0"/>
          </a:p>
        </p:txBody>
      </p:sp>
      <p:cxnSp>
        <p:nvCxnSpPr>
          <p:cNvPr id="14" name="Connecteur droit avec flèche 13"/>
          <p:cNvCxnSpPr>
            <a:stCxn id="18" idx="0"/>
            <a:endCxn id="3" idx="2"/>
          </p:cNvCxnSpPr>
          <p:nvPr/>
        </p:nvCxnSpPr>
        <p:spPr>
          <a:xfrm flipV="1">
            <a:off x="7644475" y="3289995"/>
            <a:ext cx="797270" cy="10779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p:cNvCxnSpPr>
            <a:stCxn id="11" idx="0"/>
            <a:endCxn id="3" idx="2"/>
          </p:cNvCxnSpPr>
          <p:nvPr/>
        </p:nvCxnSpPr>
        <p:spPr>
          <a:xfrm flipH="1" flipV="1">
            <a:off x="8441745" y="3289995"/>
            <a:ext cx="935122" cy="10779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ZoneTexte 17"/>
          <p:cNvSpPr txBox="1"/>
          <p:nvPr/>
        </p:nvSpPr>
        <p:spPr>
          <a:xfrm>
            <a:off x="7431115" y="4367980"/>
            <a:ext cx="426720" cy="369332"/>
          </a:xfrm>
          <a:prstGeom prst="rect">
            <a:avLst/>
          </a:prstGeom>
          <a:noFill/>
        </p:spPr>
        <p:txBody>
          <a:bodyPr wrap="none" rtlCol="0">
            <a:spAutoFit/>
          </a:bodyPr>
          <a:lstStyle/>
          <a:p>
            <a:r>
              <a:rPr lang="fr-BE" dirty="0" smtClean="0"/>
              <a:t>e1</a:t>
            </a:r>
            <a:endParaRPr lang="fr-BE" dirty="0"/>
          </a:p>
        </p:txBody>
      </p:sp>
      <p:cxnSp>
        <p:nvCxnSpPr>
          <p:cNvPr id="23" name="Connecteur droit avec flèche 22"/>
          <p:cNvCxnSpPr>
            <a:stCxn id="8" idx="0"/>
            <a:endCxn id="18" idx="2"/>
          </p:cNvCxnSpPr>
          <p:nvPr/>
        </p:nvCxnSpPr>
        <p:spPr>
          <a:xfrm flipV="1">
            <a:off x="7120310" y="4737312"/>
            <a:ext cx="524165" cy="6644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onnecteur droit avec flèche 24"/>
          <p:cNvCxnSpPr>
            <a:stCxn id="9" idx="0"/>
            <a:endCxn id="18" idx="2"/>
          </p:cNvCxnSpPr>
          <p:nvPr/>
        </p:nvCxnSpPr>
        <p:spPr>
          <a:xfrm flipH="1" flipV="1">
            <a:off x="7644475" y="4737312"/>
            <a:ext cx="596688" cy="6644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Connecteur droit avec flèche 26"/>
          <p:cNvCxnSpPr>
            <a:stCxn id="10" idx="0"/>
            <a:endCxn id="11" idx="2"/>
          </p:cNvCxnSpPr>
          <p:nvPr/>
        </p:nvCxnSpPr>
        <p:spPr>
          <a:xfrm flipV="1">
            <a:off x="8856245" y="4737312"/>
            <a:ext cx="520622" cy="6683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necteur droit avec flèche 28"/>
          <p:cNvCxnSpPr>
            <a:stCxn id="12" idx="0"/>
            <a:endCxn id="11" idx="2"/>
          </p:cNvCxnSpPr>
          <p:nvPr/>
        </p:nvCxnSpPr>
        <p:spPr>
          <a:xfrm flipH="1" flipV="1">
            <a:off x="9376867" y="4737312"/>
            <a:ext cx="570826" cy="6644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xmlns="" val="35794062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sz="4000" dirty="0">
                <a:latin typeface="Myriad Pro" panose="020B0503030403020204" pitchFamily="34" charset="0"/>
              </a:rPr>
              <a:t>E</a:t>
            </a:r>
            <a:r>
              <a:rPr lang="fr-BE" sz="4000" dirty="0" smtClean="0">
                <a:latin typeface="Myriad Pro" panose="020B0503030403020204" pitchFamily="34" charset="0"/>
              </a:rPr>
              <a:t>ntités faibles</a:t>
            </a:r>
            <a:endParaRPr lang="fr-BE" sz="4000" dirty="0">
              <a:latin typeface="Myriad Pro" panose="020B0503030403020204" pitchFamily="34" charset="0"/>
            </a:endParaRPr>
          </a:p>
        </p:txBody>
      </p:sp>
      <p:sp>
        <p:nvSpPr>
          <p:cNvPr id="3" name="Espace réservé du contenu 2"/>
          <p:cNvSpPr>
            <a:spLocks noGrp="1"/>
          </p:cNvSpPr>
          <p:nvPr>
            <p:ph sz="quarter" idx="1"/>
          </p:nvPr>
        </p:nvSpPr>
        <p:spPr>
          <a:xfrm>
            <a:off x="816864" y="1600199"/>
            <a:ext cx="10871200" cy="4826359"/>
          </a:xfrm>
        </p:spPr>
        <p:txBody>
          <a:bodyPr>
            <a:normAutofit/>
          </a:bodyPr>
          <a:lstStyle/>
          <a:p>
            <a:pPr algn="just">
              <a:buClrTx/>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Une entité faible ne possède pas d’identifiant au sein de ses attributs</a:t>
            </a:r>
          </a:p>
          <a:p>
            <a:pPr algn="just">
              <a:buClrTx/>
              <a:buSzPct val="110000"/>
              <a:buFont typeface="Arial" panose="020B0604020202020204" pitchFamily="34" charset="0"/>
              <a:buChar char="•"/>
            </a:pPr>
            <a:endParaRPr lang="fr-BE" sz="2400" dirty="0" smtClean="0">
              <a:latin typeface="Myriad Pro" panose="020B0503030403020204" pitchFamily="34" charset="0"/>
              <a:cs typeface="Arial" panose="020B0604020202020204" pitchFamily="34" charset="0"/>
            </a:endParaRPr>
          </a:p>
          <a:p>
            <a:pPr marL="0" indent="0" algn="just">
              <a:buClrTx/>
              <a:buSzPct val="110000"/>
              <a:buNone/>
            </a:pPr>
            <a:endParaRPr lang="fr-BE" sz="2400" dirty="0" smtClean="0">
              <a:latin typeface="Myriad Pro" panose="020B0503030403020204" pitchFamily="34" charset="0"/>
              <a:cs typeface="Arial" panose="020B0604020202020204" pitchFamily="34" charset="0"/>
            </a:endParaRPr>
          </a:p>
          <a:p>
            <a:pPr algn="just">
              <a:buClrTx/>
              <a:buSzPct val="110000"/>
              <a:buFont typeface="Arial" panose="020B0604020202020204" pitchFamily="34" charset="0"/>
              <a:buChar char="•"/>
            </a:pPr>
            <a:endParaRPr lang="fr-BE" sz="2400" dirty="0" smtClean="0">
              <a:latin typeface="Myriad Pro" panose="020B0503030403020204" pitchFamily="34" charset="0"/>
              <a:cs typeface="Arial" panose="020B0604020202020204" pitchFamily="34" charset="0"/>
            </a:endParaRPr>
          </a:p>
          <a:p>
            <a:pPr algn="just">
              <a:buClrTx/>
              <a:buSzPct val="110000"/>
              <a:buFont typeface="Arial" panose="020B0604020202020204" pitchFamily="34" charset="0"/>
              <a:buChar char="•"/>
            </a:pPr>
            <a:endParaRPr lang="fr-BE" sz="2400" dirty="0" smtClean="0">
              <a:latin typeface="Myriad Pro" panose="020B0503030403020204" pitchFamily="34" charset="0"/>
              <a:cs typeface="Arial" panose="020B0604020202020204" pitchFamily="34" charset="0"/>
            </a:endParaRPr>
          </a:p>
          <a:p>
            <a:pPr marL="0" indent="0" algn="just">
              <a:buClrTx/>
              <a:buSzPct val="110000"/>
              <a:buNone/>
            </a:pPr>
            <a:endParaRPr lang="fr-BE" sz="2400" dirty="0" smtClean="0">
              <a:latin typeface="Myriad Pro" panose="020B0503030403020204" pitchFamily="34" charset="0"/>
              <a:cs typeface="Arial" panose="020B0604020202020204" pitchFamily="34" charset="0"/>
            </a:endParaRPr>
          </a:p>
          <a:p>
            <a:pPr algn="just">
              <a:buClrTx/>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Chaque instance d’une entité faible est identifiée de manière unique sur base de la valeur </a:t>
            </a:r>
            <a:r>
              <a:rPr lang="fr-BE" sz="2400" dirty="0">
                <a:latin typeface="Myriad Pro" panose="020B0503030403020204" pitchFamily="34" charset="0"/>
                <a:cs typeface="Arial" panose="020B0604020202020204" pitchFamily="34" charset="0"/>
              </a:rPr>
              <a:t>de </a:t>
            </a:r>
            <a:r>
              <a:rPr lang="fr-BE" sz="2400" dirty="0" smtClean="0">
                <a:latin typeface="Myriad Pro" panose="020B0503030403020204" pitchFamily="34" charset="0"/>
                <a:cs typeface="Arial" panose="020B0604020202020204" pitchFamily="34" charset="0"/>
              </a:rPr>
              <a:t>l’identifiant de l’entité </a:t>
            </a:r>
            <a:r>
              <a:rPr lang="fr-BE" sz="2400" dirty="0">
                <a:latin typeface="Myriad Pro" panose="020B0503030403020204" pitchFamily="34" charset="0"/>
                <a:cs typeface="Arial" panose="020B0604020202020204" pitchFamily="34" charset="0"/>
              </a:rPr>
              <a:t>à laquelle elle est </a:t>
            </a:r>
            <a:r>
              <a:rPr lang="fr-BE" sz="2400" dirty="0" smtClean="0">
                <a:latin typeface="Myriad Pro" panose="020B0503030403020204" pitchFamily="34" charset="0"/>
                <a:cs typeface="Arial" panose="020B0604020202020204" pitchFamily="34" charset="0"/>
              </a:rPr>
              <a:t>associée (par une cardinalité One-to-One)</a:t>
            </a:r>
            <a:endParaRPr lang="fr-BE" sz="2400" dirty="0">
              <a:latin typeface="Myriad Pro" panose="020B0503030403020204" pitchFamily="34" charset="0"/>
              <a:cs typeface="Arial" panose="020B0604020202020204" pitchFamily="34" charset="0"/>
            </a:endParaRPr>
          </a:p>
          <a:p>
            <a:pPr marL="0" indent="0" algn="just">
              <a:buClrTx/>
              <a:buSzPct val="110000"/>
              <a:buNone/>
            </a:pPr>
            <a:r>
              <a:rPr lang="fr-BE" sz="2400" dirty="0" smtClean="0">
                <a:latin typeface="Myriad Pro" panose="020B0503030403020204" pitchFamily="34" charset="0"/>
                <a:cs typeface="Arial" panose="020B0604020202020204" pitchFamily="34" charset="0"/>
              </a:rPr>
              <a:t> </a:t>
            </a:r>
            <a:endParaRPr lang="fr-BE" sz="2400" dirty="0">
              <a:latin typeface="Myriad Pro" panose="020B0503030403020204" pitchFamily="34" charset="0"/>
              <a:cs typeface="Arial" panose="020B0604020202020204" pitchFamily="34" charset="0"/>
            </a:endParaRPr>
          </a:p>
        </p:txBody>
      </p:sp>
      <p:pic>
        <p:nvPicPr>
          <p:cNvPr id="4" name="Image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348506" y="2299232"/>
            <a:ext cx="4609919" cy="1792746"/>
          </a:xfrm>
          <a:prstGeom prst="rect">
            <a:avLst/>
          </a:prstGeom>
        </p:spPr>
      </p:pic>
    </p:spTree>
    <p:extLst>
      <p:ext uri="{BB962C8B-B14F-4D97-AF65-F5344CB8AC3E}">
        <p14:creationId xmlns:p14="http://schemas.microsoft.com/office/powerpoint/2010/main" xmlns="" val="55236465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BE" sz="4000" dirty="0" smtClean="0">
                <a:latin typeface="Myriad Pro" panose="020B0503030403020204" pitchFamily="34" charset="0"/>
              </a:rPr>
              <a:t>Les types génériques d’associations</a:t>
            </a:r>
            <a:endParaRPr lang="fr-BE" sz="4000" dirty="0">
              <a:latin typeface="Myriad Pro" panose="020B0503030403020204" pitchFamily="34" charset="0"/>
            </a:endParaRPr>
          </a:p>
        </p:txBody>
      </p:sp>
      <p:sp>
        <p:nvSpPr>
          <p:cNvPr id="5" name="Espace réservé du contenu 4"/>
          <p:cNvSpPr>
            <a:spLocks noGrp="1"/>
          </p:cNvSpPr>
          <p:nvPr>
            <p:ph sz="quarter" idx="1"/>
          </p:nvPr>
        </p:nvSpPr>
        <p:spPr/>
        <p:txBody>
          <a:bodyPr/>
          <a:lstStyle/>
          <a:p>
            <a:pPr>
              <a:buClr>
                <a:schemeClr val="tx1"/>
              </a:buClr>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Quatre </a:t>
            </a:r>
            <a:r>
              <a:rPr lang="fr-BE" sz="2400" dirty="0" err="1" smtClean="0">
                <a:latin typeface="Myriad Pro" panose="020B0503030403020204" pitchFamily="34" charset="0"/>
                <a:cs typeface="Arial" panose="020B0604020202020204" pitchFamily="34" charset="0"/>
              </a:rPr>
              <a:t>MétaAssociations</a:t>
            </a:r>
            <a:r>
              <a:rPr lang="fr-BE" sz="2400" dirty="0" smtClean="0">
                <a:latin typeface="Myriad Pro" panose="020B0503030403020204" pitchFamily="34" charset="0"/>
                <a:cs typeface="Arial" panose="020B0604020202020204" pitchFamily="34" charset="0"/>
              </a:rPr>
              <a:t>:</a:t>
            </a:r>
          </a:p>
          <a:p>
            <a:pPr lvl="1">
              <a:buClr>
                <a:schemeClr val="tx1"/>
              </a:buClr>
              <a:buSzPct val="110000"/>
              <a:buFont typeface="Arial" panose="020B0604020202020204" pitchFamily="34" charset="0"/>
              <a:buChar char="•"/>
            </a:pPr>
            <a:r>
              <a:rPr lang="fr-BE" sz="2000" dirty="0" smtClean="0">
                <a:latin typeface="Myriad Pro" panose="020B0503030403020204" pitchFamily="34" charset="0"/>
                <a:cs typeface="Arial" panose="020B0604020202020204" pitchFamily="34" charset="0"/>
              </a:rPr>
              <a:t>Généralisation: (Superclasse ← </a:t>
            </a:r>
            <a:r>
              <a:rPr lang="fr-BE" sz="2000" dirty="0" err="1" smtClean="0">
                <a:latin typeface="Myriad Pro" panose="020B0503030403020204" pitchFamily="34" charset="0"/>
                <a:cs typeface="Arial" panose="020B0604020202020204" pitchFamily="34" charset="0"/>
              </a:rPr>
              <a:t>SousClasse</a:t>
            </a:r>
            <a:r>
              <a:rPr lang="fr-BE" sz="2000" dirty="0" smtClean="0">
                <a:latin typeface="Myriad Pro" panose="020B0503030403020204" pitchFamily="34" charset="0"/>
                <a:cs typeface="Arial" panose="020B0604020202020204" pitchFamily="34" charset="0"/>
              </a:rPr>
              <a:t>)</a:t>
            </a:r>
          </a:p>
          <a:p>
            <a:pPr lvl="1">
              <a:buClr>
                <a:schemeClr val="tx1"/>
              </a:buClr>
              <a:buSzPct val="110000"/>
              <a:buFont typeface="Arial" panose="020B0604020202020204" pitchFamily="34" charset="0"/>
              <a:buChar char="•"/>
            </a:pPr>
            <a:r>
              <a:rPr lang="fr-BE" sz="2000" dirty="0" smtClean="0">
                <a:latin typeface="Myriad Pro" panose="020B0503030403020204" pitchFamily="34" charset="0"/>
                <a:cs typeface="Arial" panose="020B0604020202020204" pitchFamily="34" charset="0"/>
              </a:rPr>
              <a:t>Classification: (Classe </a:t>
            </a:r>
            <a:r>
              <a:rPr lang="en-US" altLang="fr-FR" sz="2000" dirty="0">
                <a:latin typeface="Myriad Pro" panose="020B0503030403020204" pitchFamily="34" charset="0"/>
                <a:cs typeface="Arial" panose="020B0604020202020204" pitchFamily="34" charset="0"/>
              </a:rPr>
              <a:t>&lt;- - - Instance</a:t>
            </a:r>
            <a:r>
              <a:rPr lang="en-US" altLang="fr-FR" sz="2000" dirty="0" smtClean="0">
                <a:latin typeface="Myriad Pro" panose="020B0503030403020204" pitchFamily="34" charset="0"/>
                <a:cs typeface="Arial" panose="020B0604020202020204" pitchFamily="34" charset="0"/>
              </a:rPr>
              <a:t>)</a:t>
            </a:r>
          </a:p>
          <a:p>
            <a:pPr lvl="1">
              <a:buClr>
                <a:schemeClr val="tx1"/>
              </a:buClr>
              <a:buSzPct val="110000"/>
              <a:buFont typeface="Arial" panose="020B0604020202020204" pitchFamily="34" charset="0"/>
              <a:buChar char="•"/>
            </a:pPr>
            <a:r>
              <a:rPr lang="fr-BE" sz="2000" dirty="0" smtClean="0">
                <a:latin typeface="Myriad Pro" panose="020B0503030403020204" pitchFamily="34" charset="0"/>
                <a:cs typeface="Arial" panose="020B0604020202020204" pitchFamily="34" charset="0"/>
              </a:rPr>
              <a:t>Agrégation: (Entier </a:t>
            </a:r>
            <a:r>
              <a:rPr lang="en-US" altLang="fr-FR" sz="2000" dirty="0">
                <a:latin typeface="Myriad Pro" panose="020B0503030403020204" pitchFamily="34" charset="0"/>
                <a:cs typeface="Arial" panose="020B0604020202020204" pitchFamily="34" charset="0"/>
              </a:rPr>
              <a:t>—</a:t>
            </a:r>
            <a:r>
              <a:rPr lang="en-US" altLang="fr-FR" sz="2000" dirty="0" err="1">
                <a:latin typeface="Myriad Pro" panose="020B0503030403020204" pitchFamily="34" charset="0"/>
                <a:cs typeface="Arial" panose="020B0604020202020204" pitchFamily="34" charset="0"/>
              </a:rPr>
              <a:t>Partie</a:t>
            </a:r>
            <a:r>
              <a:rPr lang="en-US" altLang="fr-FR" sz="2000" dirty="0" smtClean="0">
                <a:latin typeface="Myriad Pro" panose="020B0503030403020204" pitchFamily="34" charset="0"/>
                <a:cs typeface="Arial" panose="020B0604020202020204" pitchFamily="34" charset="0"/>
              </a:rPr>
              <a:t>)</a:t>
            </a:r>
          </a:p>
          <a:p>
            <a:pPr lvl="1">
              <a:buClr>
                <a:schemeClr val="tx1"/>
              </a:buClr>
              <a:buSzPct val="110000"/>
              <a:buFont typeface="Arial" panose="020B0604020202020204" pitchFamily="34" charset="0"/>
              <a:buChar char="•"/>
            </a:pPr>
            <a:r>
              <a:rPr lang="fr-BE" sz="2000" dirty="0" smtClean="0">
                <a:latin typeface="Myriad Pro" panose="020B0503030403020204" pitchFamily="34" charset="0"/>
                <a:cs typeface="Arial" panose="020B0604020202020204" pitchFamily="34" charset="0"/>
              </a:rPr>
              <a:t>Matérialisation: (Abstrait</a:t>
            </a:r>
            <a:r>
              <a:rPr lang="en-US" altLang="fr-FR" sz="2000" dirty="0">
                <a:latin typeface="Myriad Pro" panose="020B0503030403020204" pitchFamily="34" charset="0"/>
                <a:cs typeface="Arial" panose="020B0604020202020204" pitchFamily="34" charset="0"/>
              </a:rPr>
              <a:t> </a:t>
            </a:r>
            <a:r>
              <a:rPr lang="en-US" altLang="fr-FR" sz="2000" dirty="0" smtClean="0">
                <a:latin typeface="Myriad Pro" panose="020B0503030403020204" pitchFamily="34" charset="0"/>
                <a:cs typeface="Arial" panose="020B0604020202020204" pitchFamily="34" charset="0"/>
              </a:rPr>
              <a:t>—#</a:t>
            </a:r>
            <a:r>
              <a:rPr lang="en-US" altLang="fr-FR" sz="2000" dirty="0" err="1" smtClean="0">
                <a:latin typeface="Myriad Pro" panose="020B0503030403020204" pitchFamily="34" charset="0"/>
                <a:cs typeface="Arial" panose="020B0604020202020204" pitchFamily="34" charset="0"/>
              </a:rPr>
              <a:t>Concret</a:t>
            </a:r>
            <a:r>
              <a:rPr lang="en-US" altLang="fr-FR" sz="2000" dirty="0" smtClean="0">
                <a:latin typeface="Myriad Pro" panose="020B0503030403020204" pitchFamily="34" charset="0"/>
                <a:cs typeface="Arial" panose="020B0604020202020204" pitchFamily="34" charset="0"/>
              </a:rPr>
              <a:t>)</a:t>
            </a:r>
          </a:p>
          <a:p>
            <a:endParaRPr lang="en-US" altLang="fr-FR" sz="2300" dirty="0" smtClean="0">
              <a:latin typeface="Myriad Pro" panose="020B0503030403020204" pitchFamily="34" charset="0"/>
              <a:cs typeface="Arial" panose="020B0604020202020204" pitchFamily="34" charset="0"/>
            </a:endParaRPr>
          </a:p>
          <a:p>
            <a:pPr marL="365760" lvl="1" indent="0">
              <a:buNone/>
            </a:pPr>
            <a:endParaRPr lang="fr-BE" dirty="0">
              <a:latin typeface="Myriad Pro" panose="020B0503030403020204" pitchFamily="34" charset="0"/>
            </a:endParaRPr>
          </a:p>
        </p:txBody>
      </p:sp>
    </p:spTree>
    <p:extLst>
      <p:ext uri="{BB962C8B-B14F-4D97-AF65-F5344CB8AC3E}">
        <p14:creationId xmlns:p14="http://schemas.microsoft.com/office/powerpoint/2010/main" xmlns="" val="13623108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sz="4000" dirty="0" smtClean="0">
                <a:latin typeface="Myriad Pro" panose="020B0503030403020204" pitchFamily="34" charset="0"/>
              </a:rPr>
              <a:t>Généralisation</a:t>
            </a:r>
            <a:endParaRPr lang="fr-BE" sz="4000" dirty="0">
              <a:latin typeface="Myriad Pro" panose="020B0503030403020204" pitchFamily="34" charset="0"/>
            </a:endParaRPr>
          </a:p>
        </p:txBody>
      </p:sp>
      <p:sp>
        <p:nvSpPr>
          <p:cNvPr id="3" name="Espace réservé du contenu 2"/>
          <p:cNvSpPr>
            <a:spLocks noGrp="1"/>
          </p:cNvSpPr>
          <p:nvPr>
            <p:ph sz="quarter" idx="1"/>
          </p:nvPr>
        </p:nvSpPr>
        <p:spPr/>
        <p:txBody>
          <a:bodyPr numCol="2">
            <a:normAutofit/>
          </a:bodyPr>
          <a:lstStyle/>
          <a:p>
            <a:pPr marL="0" indent="0">
              <a:buNone/>
            </a:pPr>
            <a:endParaRPr lang="fr-BE" dirty="0" smtClean="0">
              <a:latin typeface="Myriad Pro" panose="020B0503030403020204" pitchFamily="34" charset="0"/>
              <a:cs typeface="Arial" panose="020B0604020202020204" pitchFamily="34" charset="0"/>
            </a:endParaRPr>
          </a:p>
          <a:p>
            <a:endParaRPr lang="fr-BE" dirty="0">
              <a:latin typeface="Myriad Pro" panose="020B0503030403020204" pitchFamily="34" charset="0"/>
            </a:endParaRPr>
          </a:p>
        </p:txBody>
      </p:sp>
      <p:pic>
        <p:nvPicPr>
          <p:cNvPr id="5" name="Image 4"/>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2768970" y="2718121"/>
            <a:ext cx="6753831" cy="2445915"/>
          </a:xfrm>
          <a:prstGeom prst="rect">
            <a:avLst/>
          </a:prstGeom>
        </p:spPr>
      </p:pic>
      <p:sp>
        <p:nvSpPr>
          <p:cNvPr id="6" name="ZoneTexte 5"/>
          <p:cNvSpPr txBox="1"/>
          <p:nvPr/>
        </p:nvSpPr>
        <p:spPr>
          <a:xfrm>
            <a:off x="816864" y="1608648"/>
            <a:ext cx="11147609" cy="830997"/>
          </a:xfrm>
          <a:prstGeom prst="rect">
            <a:avLst/>
          </a:prstGeom>
          <a:noFill/>
        </p:spPr>
        <p:txBody>
          <a:bodyPr wrap="square" rtlCol="0">
            <a:spAutoFit/>
          </a:bodyPr>
          <a:lstStyle/>
          <a:p>
            <a:pPr marL="342900" indent="-342900" algn="just">
              <a:buClr>
                <a:schemeClr val="tx1"/>
              </a:buClr>
              <a:buSzPct val="110000"/>
              <a:buFont typeface="Arial" panose="020B0604020202020204" pitchFamily="34" charset="0"/>
              <a:buChar char="•"/>
            </a:pPr>
            <a:r>
              <a:rPr lang="fr-BE" sz="2400" dirty="0" smtClean="0">
                <a:latin typeface="Myriad Pro" panose="020B0503030403020204" pitchFamily="34" charset="0"/>
              </a:rPr>
              <a:t>Association qui définit une relation d’héritage entre une super-entité et une ou plusieurs sous-entités</a:t>
            </a:r>
          </a:p>
        </p:txBody>
      </p:sp>
    </p:spTree>
    <p:extLst>
      <p:ext uri="{BB962C8B-B14F-4D97-AF65-F5344CB8AC3E}">
        <p14:creationId xmlns:p14="http://schemas.microsoft.com/office/powerpoint/2010/main" xmlns="" val="34997806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sz="4000" dirty="0" smtClean="0">
                <a:latin typeface="Myriad Pro" panose="020B0503030403020204" pitchFamily="34" charset="0"/>
              </a:rPr>
              <a:t>Propriétés d’une généralisation</a:t>
            </a:r>
            <a:endParaRPr lang="fr-BE" sz="4000" dirty="0">
              <a:latin typeface="Myriad Pro" panose="020B0503030403020204" pitchFamily="34" charset="0"/>
            </a:endParaRPr>
          </a:p>
        </p:txBody>
      </p:sp>
      <p:pic>
        <p:nvPicPr>
          <p:cNvPr id="5" name="Image 4"/>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2086378" y="1844655"/>
            <a:ext cx="7593765" cy="4606587"/>
          </a:xfrm>
          <a:prstGeom prst="rect">
            <a:avLst/>
          </a:prstGeom>
        </p:spPr>
      </p:pic>
    </p:spTree>
    <p:extLst>
      <p:ext uri="{BB962C8B-B14F-4D97-AF65-F5344CB8AC3E}">
        <p14:creationId xmlns:p14="http://schemas.microsoft.com/office/powerpoint/2010/main" xmlns="" val="286903558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sz="4000" dirty="0" smtClean="0">
                <a:latin typeface="Myriad Pro" panose="020B0503030403020204" pitchFamily="34" charset="0"/>
              </a:rPr>
              <a:t>Spécialisation fournie par les prédicats</a:t>
            </a:r>
            <a:endParaRPr lang="fr-BE" sz="4000" dirty="0">
              <a:latin typeface="Myriad Pro" panose="020B0503030403020204" pitchFamily="34" charset="0"/>
            </a:endParaRPr>
          </a:p>
        </p:txBody>
      </p:sp>
      <p:sp>
        <p:nvSpPr>
          <p:cNvPr id="3" name="Espace réservé du contenu 2"/>
          <p:cNvSpPr>
            <a:spLocks noGrp="1"/>
          </p:cNvSpPr>
          <p:nvPr>
            <p:ph sz="quarter" idx="1"/>
          </p:nvPr>
        </p:nvSpPr>
        <p:spPr/>
        <p:txBody>
          <a:bodyPr/>
          <a:lstStyle/>
          <a:p>
            <a:pPr algn="just">
              <a:buClrTx/>
              <a:buSzPct val="110000"/>
              <a:buFont typeface="Arial" panose="020B0604020202020204" pitchFamily="34" charset="0"/>
              <a:buChar char="•"/>
            </a:pPr>
            <a:r>
              <a:rPr lang="fr-BE" altLang="fr-FR" sz="2400" dirty="0" smtClean="0">
                <a:latin typeface="Myriad Pro" panose="020B0503030403020204" pitchFamily="34" charset="0"/>
                <a:cs typeface="Arial" panose="020B0604020202020204" pitchFamily="34" charset="0"/>
              </a:rPr>
              <a:t>La participation des sous-entités dans l’association peut être spécifiée à laide de prédicats sur les valeurs d’un attribut de la super-entité</a:t>
            </a:r>
          </a:p>
          <a:p>
            <a:endParaRPr lang="fr-BE" dirty="0">
              <a:latin typeface="Myriad Pro" panose="020B0503030403020204" pitchFamily="34" charset="0"/>
            </a:endParaRPr>
          </a:p>
        </p:txBody>
      </p:sp>
      <p:pic>
        <p:nvPicPr>
          <p:cNvPr id="4" name="Image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940936" y="2676044"/>
            <a:ext cx="3656823" cy="3429109"/>
          </a:xfrm>
          <a:prstGeom prst="rect">
            <a:avLst/>
          </a:prstGeom>
        </p:spPr>
      </p:pic>
    </p:spTree>
    <p:extLst>
      <p:ext uri="{BB962C8B-B14F-4D97-AF65-F5344CB8AC3E}">
        <p14:creationId xmlns:p14="http://schemas.microsoft.com/office/powerpoint/2010/main" xmlns="" val="27799008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sz="4000" dirty="0" smtClean="0">
                <a:latin typeface="Myriad Pro" panose="020B0503030403020204" pitchFamily="34" charset="0"/>
              </a:rPr>
              <a:t>Héritage d’une association</a:t>
            </a:r>
            <a:endParaRPr lang="fr-BE" sz="4000" dirty="0">
              <a:latin typeface="Myriad Pro" panose="020B0503030403020204" pitchFamily="34" charset="0"/>
            </a:endParaRPr>
          </a:p>
        </p:txBody>
      </p:sp>
      <p:sp>
        <p:nvSpPr>
          <p:cNvPr id="3" name="Espace réservé du contenu 2"/>
          <p:cNvSpPr>
            <a:spLocks noGrp="1"/>
          </p:cNvSpPr>
          <p:nvPr>
            <p:ph sz="quarter" idx="1"/>
          </p:nvPr>
        </p:nvSpPr>
        <p:spPr/>
        <p:txBody>
          <a:bodyPr>
            <a:normAutofit/>
          </a:bodyPr>
          <a:lstStyle/>
          <a:p>
            <a:pPr>
              <a:buClrTx/>
              <a:buSzPct val="110000"/>
              <a:buFont typeface="Arial" panose="020B0604020202020204" pitchFamily="34" charset="0"/>
              <a:buChar char="•"/>
            </a:pPr>
            <a:r>
              <a:rPr lang="fr-BE" sz="2400" dirty="0" smtClean="0">
                <a:latin typeface="Myriad Pro" panose="020B0503030403020204" pitchFamily="34" charset="0"/>
                <a:cs typeface="Arial" panose="020B0604020202020204" pitchFamily="34" charset="0"/>
              </a:rPr>
              <a:t>Les associations de la super-entité sont également héritées par les sous-entités</a:t>
            </a:r>
          </a:p>
          <a:p>
            <a:pPr lvl="1" algn="just">
              <a:buClrTx/>
              <a:buSzPct val="110000"/>
              <a:buFont typeface="Arial" panose="020B0604020202020204" pitchFamily="34" charset="0"/>
              <a:buChar char="•"/>
            </a:pPr>
            <a:r>
              <a:rPr lang="fr-BE" sz="2100" dirty="0" smtClean="0">
                <a:latin typeface="Myriad Pro" panose="020B0503030403020204" pitchFamily="34" charset="0"/>
                <a:cs typeface="Arial" panose="020B0604020202020204" pitchFamily="34" charset="0"/>
              </a:rPr>
              <a:t>les professeurs et les assistants en tant que membre facultaire sont occupés par un département et peuvent enseigner un cours. Mais seul les professeurs peuvent diriger un département et seul les assistants assistent un cours</a:t>
            </a:r>
            <a:endParaRPr lang="fr-BE" sz="2100" dirty="0">
              <a:latin typeface="Myriad Pro" panose="020B0503030403020204" pitchFamily="34" charset="0"/>
              <a:cs typeface="Arial" panose="020B0604020202020204" pitchFamily="34" charset="0"/>
            </a:endParaRPr>
          </a:p>
        </p:txBody>
      </p:sp>
      <p:pic>
        <p:nvPicPr>
          <p:cNvPr id="6" name="Image 5"/>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705157" y="3532790"/>
            <a:ext cx="9094613" cy="2536691"/>
          </a:xfrm>
          <a:prstGeom prst="rect">
            <a:avLst/>
          </a:prstGeom>
        </p:spPr>
      </p:pic>
    </p:spTree>
    <p:extLst>
      <p:ext uri="{BB962C8B-B14F-4D97-AF65-F5344CB8AC3E}">
        <p14:creationId xmlns:p14="http://schemas.microsoft.com/office/powerpoint/2010/main" xmlns="" val="323947766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BE" dirty="0" smtClean="0">
                <a:latin typeface="Myriad Pro" panose="020B0503030403020204" pitchFamily="34" charset="0"/>
              </a:rPr>
              <a:t>Héritage multiple / Partage de sous-entités</a:t>
            </a:r>
            <a:endParaRPr lang="fr-BE" dirty="0">
              <a:latin typeface="Myriad Pro" panose="020B0503030403020204" pitchFamily="34" charset="0"/>
            </a:endParaRPr>
          </a:p>
        </p:txBody>
      </p:sp>
      <p:sp>
        <p:nvSpPr>
          <p:cNvPr id="3" name="Espace réservé du contenu 2"/>
          <p:cNvSpPr>
            <a:spLocks noGrp="1"/>
          </p:cNvSpPr>
          <p:nvPr>
            <p:ph sz="quarter" idx="1"/>
          </p:nvPr>
        </p:nvSpPr>
        <p:spPr>
          <a:xfrm>
            <a:off x="816864" y="1600199"/>
            <a:ext cx="10871200" cy="4868333"/>
          </a:xfrm>
        </p:spPr>
        <p:txBody>
          <a:bodyPr>
            <a:normAutofit/>
          </a:bodyPr>
          <a:lstStyle/>
          <a:p>
            <a:pPr algn="just">
              <a:buClrTx/>
              <a:buSzPct val="110000"/>
              <a:buFont typeface="Arial" panose="020B0604020202020204" pitchFamily="34" charset="0"/>
              <a:buChar char="•"/>
            </a:pPr>
            <a:r>
              <a:rPr lang="fr-BE" sz="2400" u="sng" dirty="0" smtClean="0">
                <a:latin typeface="Myriad Pro" panose="020B0503030403020204" pitchFamily="34" charset="0"/>
                <a:cs typeface="Arial" panose="020B0604020202020204" pitchFamily="34" charset="0"/>
              </a:rPr>
              <a:t>Héritage multiple</a:t>
            </a:r>
            <a:r>
              <a:rPr lang="fr-BE" sz="2400" dirty="0" smtClean="0">
                <a:latin typeface="Myriad Pro" panose="020B0503030403020204" pitchFamily="34" charset="0"/>
                <a:cs typeface="Arial" panose="020B0604020202020204" pitchFamily="34" charset="0"/>
              </a:rPr>
              <a:t>: une sous-entité hérite de plusieurs super-entités</a:t>
            </a:r>
          </a:p>
          <a:p>
            <a:pPr algn="just">
              <a:buClrTx/>
              <a:buSzPct val="110000"/>
              <a:buFont typeface="Arial" panose="020B0604020202020204" pitchFamily="34" charset="0"/>
              <a:buChar char="•"/>
            </a:pPr>
            <a:r>
              <a:rPr lang="fr-BE" sz="2400" dirty="0">
                <a:latin typeface="Myriad Pro" panose="020B0503030403020204" pitchFamily="34" charset="0"/>
                <a:cs typeface="Arial" panose="020B0604020202020204" pitchFamily="34" charset="0"/>
              </a:rPr>
              <a:t>L’héritage multiple peut générer des conflits qui doivent être </a:t>
            </a:r>
            <a:r>
              <a:rPr lang="fr-BE" sz="2400" dirty="0" smtClean="0">
                <a:latin typeface="Myriad Pro" panose="020B0503030403020204" pitchFamily="34" charset="0"/>
                <a:cs typeface="Arial" panose="020B0604020202020204" pitchFamily="34" charset="0"/>
              </a:rPr>
              <a:t>résolus pour permettre son implémentation</a:t>
            </a:r>
          </a:p>
          <a:p>
            <a:pPr algn="just"/>
            <a:endParaRPr lang="fr-BE" sz="2000" dirty="0">
              <a:latin typeface="Myriad Pro" panose="020B0503030403020204" pitchFamily="34" charset="0"/>
              <a:cs typeface="Arial" panose="020B0604020202020204" pitchFamily="34" charset="0"/>
            </a:endParaRPr>
          </a:p>
          <a:p>
            <a:endParaRPr lang="fr-BE" sz="2000" dirty="0" smtClean="0">
              <a:latin typeface="Myriad Pro" panose="020B0503030403020204" pitchFamily="34" charset="0"/>
              <a:cs typeface="Arial" panose="020B0604020202020204" pitchFamily="34" charset="0"/>
            </a:endParaRPr>
          </a:p>
          <a:p>
            <a:endParaRPr lang="fr-BE" sz="2000" dirty="0">
              <a:latin typeface="Myriad Pro" panose="020B0503030403020204" pitchFamily="34" charset="0"/>
              <a:cs typeface="Arial" panose="020B0604020202020204" pitchFamily="34" charset="0"/>
            </a:endParaRPr>
          </a:p>
          <a:p>
            <a:endParaRPr lang="fr-BE" sz="2000" dirty="0" smtClean="0">
              <a:latin typeface="Myriad Pro" panose="020B0503030403020204" pitchFamily="34" charset="0"/>
              <a:cs typeface="Arial" panose="020B0604020202020204" pitchFamily="34" charset="0"/>
            </a:endParaRPr>
          </a:p>
          <a:p>
            <a:endParaRPr lang="fr-BE" sz="2000" dirty="0" smtClean="0">
              <a:latin typeface="Myriad Pro" panose="020B0503030403020204" pitchFamily="34" charset="0"/>
              <a:cs typeface="Arial" panose="020B0604020202020204" pitchFamily="34" charset="0"/>
            </a:endParaRPr>
          </a:p>
          <a:p>
            <a:endParaRPr lang="fr-BE" sz="2000" dirty="0" smtClean="0">
              <a:latin typeface="Myriad Pro" panose="020B0503030403020204" pitchFamily="34" charset="0"/>
              <a:cs typeface="Arial" panose="020B0604020202020204" pitchFamily="34" charset="0"/>
            </a:endParaRPr>
          </a:p>
          <a:p>
            <a:endParaRPr lang="fr-BE" sz="2000" dirty="0">
              <a:latin typeface="Myriad Pro" panose="020B0503030403020204" pitchFamily="34" charset="0"/>
              <a:cs typeface="Arial" panose="020B0604020202020204" pitchFamily="34" charset="0"/>
            </a:endParaRPr>
          </a:p>
        </p:txBody>
      </p:sp>
      <p:pic>
        <p:nvPicPr>
          <p:cNvPr id="5" name="Image 4"/>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623518" y="2991048"/>
            <a:ext cx="3164079" cy="3438133"/>
          </a:xfrm>
          <a:prstGeom prst="rect">
            <a:avLst/>
          </a:prstGeom>
        </p:spPr>
      </p:pic>
    </p:spTree>
    <p:extLst>
      <p:ext uri="{BB962C8B-B14F-4D97-AF65-F5344CB8AC3E}">
        <p14:creationId xmlns:p14="http://schemas.microsoft.com/office/powerpoint/2010/main" xmlns="" val="151998812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sql-theme">
  <a:themeElements>
    <a:clrScheme name="Mé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édian">
      <a:majorFont>
        <a:latin typeface="Tw Cen MT"/>
        <a:ea typeface=""/>
        <a:cs typeface=""/>
        <a:font script="Grek" typeface="Calibri"/>
        <a:font script="Cyrl" typeface="Calibri"/>
        <a:font script="Jpan" typeface="ＭＳ Ｐゴシック"/>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ＭＳ Ｐゴシック"/>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é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sql-theme" id="{543BAFFC-4EBA-4AB9-A145-8A2ECD511129}" vid="{31805D4B-1C9F-4589-929C-EC7A5011551F}"/>
    </a:ext>
  </a:extLst>
</a:theme>
</file>

<file path=docProps/app.xml><?xml version="1.0" encoding="utf-8"?>
<Properties xmlns="http://schemas.openxmlformats.org/officeDocument/2006/extended-properties" xmlns:vt="http://schemas.openxmlformats.org/officeDocument/2006/docPropsVTypes">
  <Template>sql-theme</Template>
  <TotalTime>1223</TotalTime>
  <Words>1097</Words>
  <Application>Microsoft Office PowerPoint</Application>
  <PresentationFormat>Custom</PresentationFormat>
  <Paragraphs>172</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sql-theme</vt:lpstr>
      <vt:lpstr>Analyse et conception d’une bases de données: le modèle entité-association</vt:lpstr>
      <vt:lpstr>Le modèle entité-association</vt:lpstr>
      <vt:lpstr>Cas d’étude: exemple d’une structure de données dans une entreprise</vt:lpstr>
      <vt:lpstr>Schéma entité-association de notre exemple</vt:lpstr>
      <vt:lpstr>Les entités et attributs</vt:lpstr>
      <vt:lpstr>Types d’attributs</vt:lpstr>
      <vt:lpstr>Identifiant</vt:lpstr>
      <vt:lpstr>Association</vt:lpstr>
      <vt:lpstr>Cardinalité: sémantique de l’association</vt:lpstr>
      <vt:lpstr>Association Many-to-Many</vt:lpstr>
      <vt:lpstr>Association One-to-Many</vt:lpstr>
      <vt:lpstr>Association One-to-One</vt:lpstr>
      <vt:lpstr>Association N-aire</vt:lpstr>
      <vt:lpstr>Expressivité dune association binaire vs. ternaire</vt:lpstr>
      <vt:lpstr>Rôles d’une association</vt:lpstr>
      <vt:lpstr>Association unaire</vt:lpstr>
      <vt:lpstr>Entités faibles</vt:lpstr>
      <vt:lpstr>Les types génériques d’associations</vt:lpstr>
      <vt:lpstr>Généralisation</vt:lpstr>
      <vt:lpstr>Propriétés d’une généralisation</vt:lpstr>
      <vt:lpstr>Spécialisation fournie par les prédicats</vt:lpstr>
      <vt:lpstr>Héritage d’une association</vt:lpstr>
      <vt:lpstr>Héritage multiple / Partage de sous-entités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OVYN Flavian</dc:creator>
  <cp:lastModifiedBy>SFaulkner</cp:lastModifiedBy>
  <cp:revision>243</cp:revision>
  <dcterms:created xsi:type="dcterms:W3CDTF">2016-04-13T06:42:03Z</dcterms:created>
  <dcterms:modified xsi:type="dcterms:W3CDTF">2016-05-03T09:29:39Z</dcterms:modified>
</cp:coreProperties>
</file>