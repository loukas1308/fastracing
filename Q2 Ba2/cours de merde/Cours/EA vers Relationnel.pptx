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7" r:id="rId4"/>
    <p:sldId id="277" r:id="rId5"/>
    <p:sldId id="285" r:id="rId6"/>
    <p:sldId id="279" r:id="rId7"/>
    <p:sldId id="282" r:id="rId8"/>
    <p:sldId id="281" r:id="rId9"/>
    <p:sldId id="289" r:id="rId10"/>
    <p:sldId id="258" r:id="rId11"/>
    <p:sldId id="260" r:id="rId12"/>
    <p:sldId id="259" r:id="rId13"/>
    <p:sldId id="261" r:id="rId14"/>
    <p:sldId id="262" r:id="rId15"/>
    <p:sldId id="288" r:id="rId16"/>
    <p:sldId id="264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34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1096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39086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-têt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180578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45011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fr-BE"/>
          </a:p>
        </p:txBody>
      </p:sp>
      <p:sp>
        <p:nvSpPr>
          <p:cNvPr id="16" name="Espace réservé du texte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15" name="Espace réservé du texte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0073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21317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68158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812800" y="1752600"/>
            <a:ext cx="21336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3149600" y="1752600"/>
            <a:ext cx="8534400" cy="44196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35617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Modifiez les styles du texte du masque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4" name="Espace réservé du pied de page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fr-BE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533733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950915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kumimoji="0" lang="fr-FR" smtClean="0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Modifiez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21690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nl-BE" smtClean="0"/>
              <a:t>Cliquez et modifiez le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nl-BE" smtClean="0"/>
              <a:t>Cliquez pour modifier les styles du texte du masque</a:t>
            </a:r>
          </a:p>
          <a:p>
            <a:pPr lvl="1" eaLnBrk="1" latinLnBrk="0" hangingPunct="1"/>
            <a:r>
              <a:rPr kumimoji="0" lang="nl-BE" smtClean="0"/>
              <a:t>Deuxième niveau</a:t>
            </a:r>
          </a:p>
          <a:p>
            <a:pPr lvl="2" eaLnBrk="1" latinLnBrk="0" hangingPunct="1"/>
            <a:r>
              <a:rPr kumimoji="0" lang="nl-BE" smtClean="0"/>
              <a:t>Troisième niveau</a:t>
            </a:r>
          </a:p>
          <a:p>
            <a:pPr lvl="3" eaLnBrk="1" latinLnBrk="0" hangingPunct="1"/>
            <a:r>
              <a:rPr kumimoji="0" lang="nl-BE" smtClean="0"/>
              <a:t>Quatrième niveau</a:t>
            </a:r>
          </a:p>
          <a:p>
            <a:pPr lvl="4" eaLnBrk="1" latinLnBrk="0" hangingPunct="1"/>
            <a:r>
              <a:rPr kumimoji="0" lang="nl-BE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206F8A-F30F-4E6F-AF2E-80AA03E4B3CE}" type="datetimeFigureOut">
              <a:rPr lang="fr-BE" smtClean="0"/>
              <a:pPr/>
              <a:t>09-05-16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BE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4203E6B0-8823-435B-8435-56AF34A5080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97394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 smtClean="0">
                <a:latin typeface="Myriad Pro" panose="020B0503030403020204" pitchFamily="34" charset="0"/>
              </a:rPr>
              <a:t>Entité-Association vers le relationnel</a:t>
            </a:r>
            <a:endParaRPr lang="fr-BE" dirty="0">
              <a:latin typeface="Myriad Pro" panose="020B0503030403020204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BE" dirty="0">
                <a:latin typeface="Myriad Pro" panose="020B0503030403020204" pitchFamily="34" charset="0"/>
              </a:rPr>
              <a:t>Prof. Dr. </a:t>
            </a:r>
            <a:r>
              <a:rPr lang="fr-BE" dirty="0" err="1" smtClean="0">
                <a:latin typeface="Myriad Pro" panose="020B0503030403020204" pitchFamily="34" charset="0"/>
              </a:rPr>
              <a:t>ir</a:t>
            </a:r>
            <a:r>
              <a:rPr lang="fr-BE" dirty="0" smtClean="0">
                <a:latin typeface="Myriad Pro" panose="020B0503030403020204" pitchFamily="34" charset="0"/>
              </a:rPr>
              <a:t>.   Stéphane Faulkner</a:t>
            </a:r>
            <a:endParaRPr lang="fr-BE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66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4000" dirty="0" smtClean="0">
                <a:latin typeface="Myriad Pro" panose="020B0503030403020204" pitchFamily="34" charset="0"/>
              </a:rPr>
              <a:t>Entité-association vers le relationnel</a:t>
            </a:r>
            <a:endParaRPr lang="fr-BE" sz="4000" dirty="0">
              <a:latin typeface="Myriad Pro" panose="020B0503030403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Traduction des association binaires et unaires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Association </a:t>
            </a:r>
            <a:r>
              <a:rPr lang="fr-BE" sz="2000" dirty="0" err="1" smtClean="0">
                <a:latin typeface="Myriad Pro" panose="020B0503030403020204" pitchFamily="34" charset="0"/>
              </a:rPr>
              <a:t>Many</a:t>
            </a:r>
            <a:r>
              <a:rPr lang="fr-BE" sz="2000" dirty="0" smtClean="0">
                <a:latin typeface="Myriad Pro" panose="020B0503030403020204" pitchFamily="34" charset="0"/>
              </a:rPr>
              <a:t>-to-</a:t>
            </a:r>
            <a:r>
              <a:rPr lang="fr-BE" sz="2000" dirty="0" err="1" smtClean="0">
                <a:latin typeface="Myriad Pro" panose="020B0503030403020204" pitchFamily="34" charset="0"/>
              </a:rPr>
              <a:t>Many</a:t>
            </a:r>
            <a:endParaRPr lang="fr-BE" sz="2000" dirty="0" smtClean="0">
              <a:latin typeface="Myriad Pro" panose="020B0503030403020204" pitchFamily="34" charset="0"/>
            </a:endParaRP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Association One-to-</a:t>
            </a:r>
            <a:r>
              <a:rPr lang="fr-BE" sz="2000" dirty="0" err="1" smtClean="0">
                <a:latin typeface="Myriad Pro" panose="020B0503030403020204" pitchFamily="34" charset="0"/>
              </a:rPr>
              <a:t>Many</a:t>
            </a:r>
            <a:endParaRPr lang="fr-BE" sz="2000" dirty="0" smtClean="0">
              <a:latin typeface="Myriad Pro" panose="020B0503030403020204" pitchFamily="34" charset="0"/>
            </a:endParaRP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Association One-to-One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Association Unaire</a:t>
            </a:r>
          </a:p>
          <a:p>
            <a:pPr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Suppression </a:t>
            </a:r>
            <a:r>
              <a:rPr lang="fr-BE" sz="2400" dirty="0">
                <a:latin typeface="Myriad Pro" panose="020B0503030403020204" pitchFamily="34" charset="0"/>
              </a:rPr>
              <a:t>des généralisations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>
                <a:latin typeface="Myriad Pro" panose="020B0503030403020204" pitchFamily="34" charset="0"/>
              </a:rPr>
              <a:t>Conserver les super-entités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>
                <a:latin typeface="Myriad Pro" panose="020B0503030403020204" pitchFamily="34" charset="0"/>
              </a:rPr>
              <a:t>Conserver les sous-entités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>
                <a:latin typeface="Myriad Pro" panose="020B0503030403020204" pitchFamily="34" charset="0"/>
              </a:rPr>
              <a:t>Modéliser par association</a:t>
            </a:r>
          </a:p>
          <a:p>
            <a:pPr lvl="1"/>
            <a:endParaRPr lang="fr-BE" sz="2000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2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Association </a:t>
            </a:r>
            <a:r>
              <a:rPr lang="fr-BE" dirty="0" err="1">
                <a:latin typeface="Myriad Pro" panose="020B0503030403020204" pitchFamily="34" charset="0"/>
              </a:rPr>
              <a:t>Many</a:t>
            </a:r>
            <a:r>
              <a:rPr lang="fr-BE" dirty="0">
                <a:latin typeface="Myriad Pro" panose="020B0503030403020204" pitchFamily="34" charset="0"/>
              </a:rPr>
              <a:t>-to-</a:t>
            </a:r>
            <a:r>
              <a:rPr lang="fr-BE" dirty="0" err="1">
                <a:latin typeface="Myriad Pro" panose="020B0503030403020204" pitchFamily="34" charset="0"/>
              </a:rPr>
              <a:t>Many</a:t>
            </a:r>
            <a:endParaRPr lang="fr-BE" dirty="0">
              <a:latin typeface="Myriad Pro" panose="020B0503030403020204" pitchFamily="34" charset="0"/>
            </a:endParaRPr>
          </a:p>
        </p:txBody>
      </p:sp>
      <p:cxnSp>
        <p:nvCxnSpPr>
          <p:cNvPr id="60" name="Connecteur droit 59"/>
          <p:cNvCxnSpPr/>
          <p:nvPr/>
        </p:nvCxnSpPr>
        <p:spPr>
          <a:xfrm>
            <a:off x="6252464" y="1498600"/>
            <a:ext cx="0" cy="5359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/>
          <p:cNvSpPr txBox="1"/>
          <p:nvPr/>
        </p:nvSpPr>
        <p:spPr>
          <a:xfrm>
            <a:off x="0" y="2016382"/>
            <a:ext cx="625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conceptuel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p:sp>
        <p:nvSpPr>
          <p:cNvPr id="63" name="ZoneTexte 62"/>
          <p:cNvSpPr txBox="1"/>
          <p:nvPr/>
        </p:nvSpPr>
        <p:spPr>
          <a:xfrm>
            <a:off x="6252464" y="2042139"/>
            <a:ext cx="593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logique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6252464" y="4736076"/>
                <a:ext cx="575033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u="sng" dirty="0">
                    <a:latin typeface="Myriad Pro" panose="020B0503030403020204" pitchFamily="34" charset="0"/>
                  </a:rPr>
                  <a:t>Clé primaire</a:t>
                </a:r>
                <a:r>
                  <a:rPr lang="fr-BE" dirty="0">
                    <a:latin typeface="Myriad Pro" panose="020B0503030403020204" pitchFamily="34" charset="0"/>
                  </a:rPr>
                  <a:t>:  PROJ_EMP {</a:t>
                </a:r>
                <a:r>
                  <a:rPr lang="fr-BE" u="sng" dirty="0">
                    <a:latin typeface="Myriad Pro" panose="020B0503030403020204" pitchFamily="34" charset="0"/>
                  </a:rPr>
                  <a:t>ENSS</a:t>
                </a:r>
                <a:r>
                  <a:rPr lang="fr-BE" dirty="0">
                    <a:latin typeface="Myriad Pro" panose="020B0503030403020204" pitchFamily="34" charset="0"/>
                  </a:rPr>
                  <a:t>, </a:t>
                </a:r>
                <a:r>
                  <a:rPr lang="fr-BE" u="sng" dirty="0" err="1">
                    <a:latin typeface="Myriad Pro" panose="020B0503030403020204" pitchFamily="34" charset="0"/>
                  </a:rPr>
                  <a:t>PNum</a:t>
                </a:r>
                <a:r>
                  <a:rPr lang="fr-BE" dirty="0">
                    <a:latin typeface="Myriad Pro" panose="020B0503030403020204" pitchFamily="34" charset="0"/>
                  </a:rPr>
                  <a:t>}</a:t>
                </a:r>
              </a:p>
              <a:p>
                <a:r>
                  <a:rPr lang="fr-BE" u="sng" dirty="0" smtClean="0">
                    <a:latin typeface="Myriad Pro" panose="020B0503030403020204" pitchFamily="34" charset="0"/>
                  </a:rPr>
                  <a:t>Clés étrangères</a:t>
                </a:r>
                <a:r>
                  <a:rPr lang="fr-BE" dirty="0" smtClean="0">
                    <a:latin typeface="Myriad Pro" panose="020B0503030403020204" pitchFamily="34" charset="0"/>
                  </a:rPr>
                  <a:t>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err="1">
                    <a:latin typeface="Myriad Pro" panose="020B0503030403020204" pitchFamily="34" charset="0"/>
                  </a:rPr>
                  <a:t>PROJ_EMP.Pnum</a:t>
                </a:r>
                <a:endParaRPr lang="fr-BE" dirty="0">
                  <a:latin typeface="Myriad Pro" panose="020B0503030403020204" pitchFamily="34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smtClean="0">
                    <a:latin typeface="Myriad Pro" panose="020B0503030403020204" pitchFamily="34" charset="0"/>
                  </a:rPr>
                  <a:t>PROJ_EMP.ENSS</a:t>
                </a:r>
              </a:p>
              <a:p>
                <a:r>
                  <a:rPr lang="fr-BE" u="sng" dirty="0" smtClean="0">
                    <a:latin typeface="Myriad Pro" panose="020B0503030403020204" pitchFamily="34" charset="0"/>
                  </a:rPr>
                  <a:t>CIR</a:t>
                </a:r>
                <a:r>
                  <a:rPr lang="fr-BE" dirty="0" smtClean="0">
                    <a:latin typeface="Myriad Pro" panose="020B0503030403020204" pitchFamily="34" charset="0"/>
                  </a:rPr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>
                    <a:latin typeface="Myriad Pro" panose="020B0503030403020204" pitchFamily="34" charset="0"/>
                  </a:rPr>
                  <a:t>PROJ_EMP.PNum </a:t>
                </a:r>
                <a14:m>
                  <m:oMath xmlns:m="http://schemas.openxmlformats.org/officeDocument/2006/math">
                    <m:r>
                      <a:rPr lang="fr-B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>
                    <a:latin typeface="Myriad Pro" panose="020B0503030403020204" pitchFamily="34" charset="0"/>
                  </a:rPr>
                  <a:t>  PROJET.PNum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smtClean="0">
                    <a:latin typeface="Myriad Pro" panose="020B0503030403020204" pitchFamily="34" charset="0"/>
                  </a:rPr>
                  <a:t>PROJ_EMP.ENSS</a:t>
                </a:r>
                <a14:m>
                  <m:oMath xmlns:m="http://schemas.openxmlformats.org/officeDocument/2006/math">
                    <m:r>
                      <a:rPr lang="fr-B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 smtClean="0">
                    <a:latin typeface="Myriad Pro" panose="020B0503030403020204" pitchFamily="34" charset="0"/>
                  </a:rPr>
                  <a:t>  EMPLOYE.ENSS</a:t>
                </a:r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464" y="4736076"/>
                <a:ext cx="5750332" cy="2031325"/>
              </a:xfrm>
              <a:prstGeom prst="rect">
                <a:avLst/>
              </a:prstGeom>
              <a:blipFill rotWithShape="0">
                <a:blip r:embed="rId2"/>
                <a:stretch>
                  <a:fillRect l="-954" t="-1502" b="-42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038" y="2848692"/>
            <a:ext cx="4281243" cy="170707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166" y="2848692"/>
            <a:ext cx="4989438" cy="171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829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Association One-to-</a:t>
            </a:r>
            <a:r>
              <a:rPr lang="fr-BE" dirty="0" err="1">
                <a:latin typeface="Myriad Pro" panose="020B0503030403020204" pitchFamily="34" charset="0"/>
              </a:rPr>
              <a:t>Many</a:t>
            </a:r>
            <a:endParaRPr lang="fr-BE" dirty="0">
              <a:latin typeface="Myriad Pro" panose="020B0503030403020204" pitchFamily="34" charset="0"/>
            </a:endParaRPr>
          </a:p>
        </p:txBody>
      </p:sp>
      <p:cxnSp>
        <p:nvCxnSpPr>
          <p:cNvPr id="60" name="Connecteur droit 59"/>
          <p:cNvCxnSpPr/>
          <p:nvPr/>
        </p:nvCxnSpPr>
        <p:spPr>
          <a:xfrm>
            <a:off x="6252464" y="1498600"/>
            <a:ext cx="0" cy="5359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/>
          <p:cNvSpPr txBox="1"/>
          <p:nvPr/>
        </p:nvSpPr>
        <p:spPr>
          <a:xfrm>
            <a:off x="0" y="1913350"/>
            <a:ext cx="625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conceptuel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p:sp>
        <p:nvSpPr>
          <p:cNvPr id="63" name="ZoneTexte 62"/>
          <p:cNvSpPr txBox="1"/>
          <p:nvPr/>
        </p:nvSpPr>
        <p:spPr>
          <a:xfrm>
            <a:off x="6252464" y="1913350"/>
            <a:ext cx="593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logique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ZoneTexte 24"/>
              <p:cNvSpPr txBox="1"/>
              <p:nvPr/>
            </p:nvSpPr>
            <p:spPr>
              <a:xfrm>
                <a:off x="6252464" y="4828376"/>
                <a:ext cx="57503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u="sng" dirty="0" smtClean="0"/>
                  <a:t>Clé étrangère</a:t>
                </a:r>
                <a:r>
                  <a:rPr lang="fr-BE" dirty="0" smtClean="0"/>
                  <a:t>: </a:t>
                </a:r>
                <a:r>
                  <a:rPr lang="fr-BE" dirty="0" err="1" smtClean="0"/>
                  <a:t>PROJET.DNum</a:t>
                </a:r>
                <a:r>
                  <a:rPr lang="fr-BE" dirty="0" smtClean="0"/>
                  <a:t> </a:t>
                </a:r>
              </a:p>
              <a:p>
                <a:r>
                  <a:rPr lang="fr-BE" u="sng" dirty="0" smtClean="0"/>
                  <a:t>CIR</a:t>
                </a:r>
                <a:r>
                  <a:rPr lang="fr-BE" dirty="0" smtClean="0"/>
                  <a:t>:  PROJET.DNum</a:t>
                </a:r>
                <a14:m>
                  <m:oMath xmlns:m="http://schemas.openxmlformats.org/officeDocument/2006/math">
                    <m:r>
                      <a:rPr lang="fr-B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 smtClean="0"/>
                  <a:t> DEPARTEMENT.DNum</a:t>
                </a:r>
                <a:endParaRPr lang="fr-BE" dirty="0"/>
              </a:p>
            </p:txBody>
          </p:sp>
        </mc:Choice>
        <mc:Fallback xmlns="">
          <p:sp>
            <p:nvSpPr>
              <p:cNvPr id="25" name="ZoneTexte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464" y="4828376"/>
                <a:ext cx="5750332" cy="646331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954" t="-4717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189" y="2897307"/>
            <a:ext cx="4280545" cy="1378479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143" y="2909746"/>
            <a:ext cx="3361389" cy="155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78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Association One-to-</a:t>
            </a:r>
            <a:r>
              <a:rPr lang="fr-BE" dirty="0" err="1">
                <a:latin typeface="Myriad Pro" panose="020B0503030403020204" pitchFamily="34" charset="0"/>
              </a:rPr>
              <a:t>Many</a:t>
            </a:r>
            <a:r>
              <a:rPr lang="fr-BE" dirty="0">
                <a:latin typeface="Myriad Pro" panose="020B0503030403020204" pitchFamily="34" charset="0"/>
              </a:rPr>
              <a:t>: </a:t>
            </a:r>
            <a:r>
              <a:rPr lang="fr-BE" dirty="0" smtClean="0">
                <a:latin typeface="Myriad Pro" panose="020B0503030403020204" pitchFamily="34" charset="0"/>
              </a:rPr>
              <a:t>Semi-Optionnelle</a:t>
            </a:r>
            <a:endParaRPr lang="fr-BE" dirty="0">
              <a:latin typeface="Myriad Pro" panose="020B0503030403020204" pitchFamily="34" charset="0"/>
            </a:endParaRPr>
          </a:p>
        </p:txBody>
      </p:sp>
      <p:cxnSp>
        <p:nvCxnSpPr>
          <p:cNvPr id="60" name="Connecteur droit 59"/>
          <p:cNvCxnSpPr/>
          <p:nvPr/>
        </p:nvCxnSpPr>
        <p:spPr>
          <a:xfrm>
            <a:off x="6252464" y="1498600"/>
            <a:ext cx="0" cy="5359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ZoneTexte 61"/>
          <p:cNvSpPr txBox="1"/>
          <p:nvPr/>
        </p:nvSpPr>
        <p:spPr>
          <a:xfrm>
            <a:off x="0" y="1848955"/>
            <a:ext cx="625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conceptuel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p:sp>
        <p:nvSpPr>
          <p:cNvPr id="63" name="ZoneTexte 62"/>
          <p:cNvSpPr txBox="1"/>
          <p:nvPr/>
        </p:nvSpPr>
        <p:spPr>
          <a:xfrm>
            <a:off x="6252463" y="1861834"/>
            <a:ext cx="593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logique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6347065" y="4284458"/>
                <a:ext cx="575033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fr-BE" u="sng" dirty="0" smtClean="0"/>
              </a:p>
              <a:p>
                <a:r>
                  <a:rPr lang="fr-BE" u="sng" dirty="0" smtClean="0"/>
                  <a:t>Clé primaire</a:t>
                </a:r>
                <a:r>
                  <a:rPr lang="fr-BE" dirty="0" smtClean="0"/>
                  <a:t>:  PROJ_DEP {</a:t>
                </a:r>
                <a:r>
                  <a:rPr lang="fr-BE" dirty="0" err="1" smtClean="0"/>
                  <a:t>PNum</a:t>
                </a:r>
                <a:r>
                  <a:rPr lang="fr-BE" dirty="0" smtClean="0"/>
                  <a:t>, </a:t>
                </a:r>
                <a:r>
                  <a:rPr lang="fr-BE" dirty="0" err="1" smtClean="0"/>
                  <a:t>DNum</a:t>
                </a:r>
                <a:r>
                  <a:rPr lang="fr-BE" dirty="0" smtClean="0"/>
                  <a:t>}</a:t>
                </a:r>
              </a:p>
              <a:p>
                <a:r>
                  <a:rPr lang="fr-BE" u="sng" dirty="0" smtClean="0"/>
                  <a:t>Clés étrangères</a:t>
                </a:r>
                <a:r>
                  <a:rPr lang="fr-BE" dirty="0" smtClean="0"/>
                  <a:t>:</a:t>
                </a:r>
                <a:r>
                  <a:rPr lang="fr-BE" dirty="0"/>
                  <a:t> </a:t>
                </a:r>
                <a:endParaRPr lang="fr-BE" dirty="0" smtClean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err="1"/>
                  <a:t>PROJ_DEP.PNum</a:t>
                </a:r>
                <a:endParaRPr lang="fr-BE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err="1" smtClean="0"/>
                  <a:t>PROJ_DEP.Dnum</a:t>
                </a:r>
                <a:endParaRPr lang="fr-BE" dirty="0" smtClean="0"/>
              </a:p>
              <a:p>
                <a:r>
                  <a:rPr lang="fr-BE" u="sng" dirty="0" smtClean="0"/>
                  <a:t>CIR</a:t>
                </a:r>
                <a:r>
                  <a:rPr lang="fr-BE" dirty="0" smtClean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/>
                  <a:t>PROJ_DEP.PNum </a:t>
                </a:r>
                <a14:m>
                  <m:oMath xmlns:m="http://schemas.openxmlformats.org/officeDocument/2006/math">
                    <m:r>
                      <a:rPr lang="fr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/>
                  <a:t> PROJET.PNum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err="1" smtClean="0"/>
                  <a:t>PROJ_DEP.DNum</a:t>
                </a:r>
                <a14:m>
                  <m:oMath xmlns:m="http://schemas.openxmlformats.org/officeDocument/2006/math">
                    <m:r>
                      <a:rPr lang="fr-B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 smtClean="0"/>
                  <a:t> DEPARTEMENT.Dnum</a:t>
                </a:r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065" y="4284458"/>
                <a:ext cx="5750332" cy="2308324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848" b="-34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940456"/>
            <a:ext cx="4568770" cy="1155026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00" y="4622206"/>
            <a:ext cx="4530133" cy="114525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982" y="2932118"/>
            <a:ext cx="5403178" cy="116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0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Association One-to-One</a:t>
            </a:r>
          </a:p>
        </p:txBody>
      </p:sp>
      <p:cxnSp>
        <p:nvCxnSpPr>
          <p:cNvPr id="17" name="Connecteur droit 16"/>
          <p:cNvCxnSpPr/>
          <p:nvPr/>
        </p:nvCxnSpPr>
        <p:spPr>
          <a:xfrm>
            <a:off x="6252464" y="1600200"/>
            <a:ext cx="0" cy="525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0" y="1595894"/>
            <a:ext cx="625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conceptuel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6252464" y="1626965"/>
            <a:ext cx="593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logique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ZoneTexte 42"/>
              <p:cNvSpPr txBox="1"/>
              <p:nvPr/>
            </p:nvSpPr>
            <p:spPr>
              <a:xfrm>
                <a:off x="6252464" y="6126162"/>
                <a:ext cx="57503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u="sng" dirty="0" smtClean="0"/>
                  <a:t>Clé étrangère</a:t>
                </a:r>
                <a:r>
                  <a:rPr lang="fr-BE" dirty="0" smtClean="0"/>
                  <a:t>:  </a:t>
                </a:r>
                <a:r>
                  <a:rPr lang="fr-BE" dirty="0" err="1" smtClean="0"/>
                  <a:t>EMPLOYE.DNum</a:t>
                </a:r>
                <a:endParaRPr lang="fr-BE" dirty="0" smtClean="0"/>
              </a:p>
              <a:p>
                <a:r>
                  <a:rPr lang="fr-BE" u="sng" dirty="0" smtClean="0"/>
                  <a:t>CIR</a:t>
                </a:r>
                <a:r>
                  <a:rPr lang="fr-BE" dirty="0" smtClean="0"/>
                  <a:t>:  </a:t>
                </a:r>
                <a:r>
                  <a:rPr lang="fr-BE" dirty="0" err="1" smtClean="0"/>
                  <a:t>EMPLOYE.DNum</a:t>
                </a:r>
                <a:r>
                  <a:rPr lang="fr-BE" dirty="0" smtClean="0"/>
                  <a:t> </a:t>
                </a:r>
                <a14:m>
                  <m:oMath xmlns:m="http://schemas.openxmlformats.org/officeDocument/2006/math">
                    <m:r>
                      <a:rPr lang="fr-B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 smtClean="0"/>
                  <a:t> DEPARTEMENT.DNum</a:t>
                </a:r>
                <a:endParaRPr lang="fr-BE" dirty="0"/>
              </a:p>
            </p:txBody>
          </p:sp>
        </mc:Choice>
        <mc:Fallback xmlns="">
          <p:sp>
            <p:nvSpPr>
              <p:cNvPr id="43" name="ZoneTexte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464" y="6126162"/>
                <a:ext cx="5750332" cy="646331"/>
              </a:xfrm>
              <a:prstGeom prst="rect">
                <a:avLst/>
              </a:prstGeom>
              <a:blipFill rotWithShape="0">
                <a:blip r:embed="rId2"/>
                <a:stretch>
                  <a:fillRect l="-954" t="-5660" b="-14151"/>
                </a:stretch>
              </a:blipFill>
            </p:spPr>
            <p:txBody>
              <a:bodyPr/>
              <a:lstStyle/>
              <a:p>
                <a:r>
                  <a:rPr lang="fr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812" y="2483893"/>
            <a:ext cx="4262295" cy="163734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6938" y="2274248"/>
            <a:ext cx="2410586" cy="121778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9237" y="4442708"/>
            <a:ext cx="2462850" cy="15959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ZoneTexte 11"/>
              <p:cNvSpPr txBox="1"/>
              <p:nvPr/>
            </p:nvSpPr>
            <p:spPr>
              <a:xfrm>
                <a:off x="6347065" y="3644456"/>
                <a:ext cx="57503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u="sng" dirty="0" smtClean="0"/>
                  <a:t>Clé étrangère</a:t>
                </a:r>
                <a:r>
                  <a:rPr lang="fr-BE" dirty="0" smtClean="0"/>
                  <a:t>:  DEPARTEMENT.ENSS</a:t>
                </a:r>
              </a:p>
              <a:p>
                <a:r>
                  <a:rPr lang="fr-BE" u="sng" dirty="0" smtClean="0"/>
                  <a:t>CIR</a:t>
                </a:r>
                <a:r>
                  <a:rPr lang="fr-BE" dirty="0" smtClean="0"/>
                  <a:t>:  DEPARTEMENT.ENSS </a:t>
                </a:r>
                <a14:m>
                  <m:oMath xmlns:m="http://schemas.openxmlformats.org/officeDocument/2006/math">
                    <m:r>
                      <a:rPr lang="fr-B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 smtClean="0"/>
                  <a:t> EMPLOYE.ENSS</a:t>
                </a:r>
                <a:endParaRPr lang="fr-BE" dirty="0"/>
              </a:p>
            </p:txBody>
          </p:sp>
        </mc:Choice>
        <mc:Fallback xmlns="">
          <p:sp>
            <p:nvSpPr>
              <p:cNvPr id="12" name="ZoneText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065" y="3644456"/>
                <a:ext cx="5750332" cy="646331"/>
              </a:xfrm>
              <a:prstGeom prst="rect">
                <a:avLst/>
              </a:prstGeom>
              <a:blipFill rotWithShape="0">
                <a:blip r:embed="rId6" cstate="print"/>
                <a:stretch>
                  <a:fillRect l="-848" t="-5660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/>
          <p:cNvSpPr txBox="1"/>
          <p:nvPr/>
        </p:nvSpPr>
        <p:spPr>
          <a:xfrm>
            <a:off x="6593983" y="4984125"/>
            <a:ext cx="553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smtClean="0">
                <a:solidFill>
                  <a:srgbClr val="FF0000"/>
                </a:solidFill>
              </a:rPr>
              <a:t>OU</a:t>
            </a:r>
            <a:endParaRPr lang="fr-F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06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12" grpId="0" animBg="1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Association One-to-One: </a:t>
            </a:r>
            <a:r>
              <a:rPr lang="fr-BE" dirty="0" smtClean="0">
                <a:latin typeface="Myriad Pro" panose="020B0503030403020204" pitchFamily="34" charset="0"/>
              </a:rPr>
              <a:t>Semi-0ptionnelle</a:t>
            </a:r>
            <a:endParaRPr lang="fr-BE" dirty="0">
              <a:latin typeface="Myriad Pro" panose="020B0503030403020204" pitchFamily="34" charset="0"/>
            </a:endParaRPr>
          </a:p>
        </p:txBody>
      </p:sp>
      <p:cxnSp>
        <p:nvCxnSpPr>
          <p:cNvPr id="17" name="Connecteur droit 16"/>
          <p:cNvCxnSpPr/>
          <p:nvPr/>
        </p:nvCxnSpPr>
        <p:spPr>
          <a:xfrm>
            <a:off x="6252464" y="1600200"/>
            <a:ext cx="0" cy="525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0" y="1954252"/>
            <a:ext cx="625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conceptuel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6252464" y="1920430"/>
            <a:ext cx="593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>
                <a:latin typeface="Myriad Pro" panose="020B0503030403020204" pitchFamily="34" charset="0"/>
              </a:rPr>
              <a:t>Niveau logique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896" y="2769969"/>
            <a:ext cx="4816901" cy="1988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6252464" y="5272453"/>
                <a:ext cx="57503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u="sng" dirty="0" smtClean="0"/>
                  <a:t>Clé étrangère</a:t>
                </a:r>
                <a:r>
                  <a:rPr lang="fr-BE" dirty="0" smtClean="0"/>
                  <a:t>: DEPARTEMENT.ENSS</a:t>
                </a:r>
              </a:p>
              <a:p>
                <a:r>
                  <a:rPr lang="fr-BE" u="sng" dirty="0" smtClean="0"/>
                  <a:t>CIR</a:t>
                </a:r>
                <a:r>
                  <a:rPr lang="fr-BE" dirty="0" smtClean="0"/>
                  <a:t>: DEPARTEMENT.ENSS </a:t>
                </a:r>
                <a14:m>
                  <m:oMath xmlns:m="http://schemas.openxmlformats.org/officeDocument/2006/math">
                    <m:r>
                      <a:rPr lang="fr-B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 smtClean="0"/>
                  <a:t> EMPLOYE.ENSS</a:t>
                </a:r>
                <a:endParaRPr lang="fr-BE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464" y="5272453"/>
                <a:ext cx="5750332" cy="646331"/>
              </a:xfrm>
              <a:prstGeom prst="rect">
                <a:avLst/>
              </a:prstGeom>
              <a:blipFill rotWithShape="0">
                <a:blip r:embed="rId3" cstate="print"/>
                <a:stretch>
                  <a:fillRect l="-954" t="-5660" b="-141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6934" y="2884867"/>
            <a:ext cx="3510793" cy="176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1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Association One-to-One: </a:t>
            </a:r>
            <a:r>
              <a:rPr lang="fr-BE" dirty="0" smtClean="0">
                <a:latin typeface="Myriad Pro" panose="020B0503030403020204" pitchFamily="34" charset="0"/>
              </a:rPr>
              <a:t>Full-Optionnelle</a:t>
            </a:r>
            <a:endParaRPr lang="fr-BE" dirty="0">
              <a:latin typeface="Myriad Pro" panose="020B0503030403020204" pitchFamily="34" charset="0"/>
            </a:endParaRPr>
          </a:p>
        </p:txBody>
      </p:sp>
      <p:cxnSp>
        <p:nvCxnSpPr>
          <p:cNvPr id="17" name="Connecteur droit 16"/>
          <p:cNvCxnSpPr/>
          <p:nvPr/>
        </p:nvCxnSpPr>
        <p:spPr>
          <a:xfrm>
            <a:off x="6252464" y="1600200"/>
            <a:ext cx="0" cy="525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ZoneTexte 33"/>
          <p:cNvSpPr txBox="1"/>
          <p:nvPr/>
        </p:nvSpPr>
        <p:spPr>
          <a:xfrm>
            <a:off x="0" y="1915615"/>
            <a:ext cx="625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conceptuel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6252464" y="1928493"/>
            <a:ext cx="593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logique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6252464" y="4816210"/>
                <a:ext cx="575033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u="sng" dirty="0" smtClean="0"/>
                  <a:t>Clés étrangères</a:t>
                </a:r>
                <a:r>
                  <a:rPr lang="fr-BE" dirty="0" smtClean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smtClean="0"/>
                  <a:t>EMP_DEP.ENSS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err="1" smtClean="0"/>
                  <a:t>EMP_DEP.DNum</a:t>
                </a:r>
                <a:r>
                  <a:rPr lang="fr-BE" dirty="0" smtClean="0"/>
                  <a:t> </a:t>
                </a:r>
              </a:p>
              <a:p>
                <a:r>
                  <a:rPr lang="fr-BE" u="sng" dirty="0" smtClean="0"/>
                  <a:t>CIR</a:t>
                </a:r>
                <a:r>
                  <a:rPr lang="fr-BE" dirty="0" smtClean="0"/>
                  <a:t>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/>
                  <a:t>EMP_DEP.ENSS  </a:t>
                </a:r>
                <a14:m>
                  <m:oMath xmlns:m="http://schemas.openxmlformats.org/officeDocument/2006/math">
                    <m:r>
                      <a:rPr lang="fr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/>
                  <a:t>  EMPLOYE.ENSS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err="1" smtClean="0"/>
                  <a:t>EMP_DEP.DNum</a:t>
                </a:r>
                <a14:m>
                  <m:oMath xmlns:m="http://schemas.openxmlformats.org/officeDocument/2006/math">
                    <m:r>
                      <a:rPr lang="fr-B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 smtClean="0"/>
                  <a:t>  DEPARTEMENT.Dnum</a:t>
                </a:r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464" y="4816210"/>
                <a:ext cx="5750332" cy="1754326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954" t="-1736" b="-45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451" y="2743198"/>
            <a:ext cx="4492477" cy="172576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346" y="2743199"/>
            <a:ext cx="5396450" cy="172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28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Association Unaire</a:t>
            </a:r>
            <a:endParaRPr lang="fr-BE" dirty="0"/>
          </a:p>
        </p:txBody>
      </p:sp>
      <p:cxnSp>
        <p:nvCxnSpPr>
          <p:cNvPr id="5" name="Connecteur droit 4"/>
          <p:cNvCxnSpPr/>
          <p:nvPr/>
        </p:nvCxnSpPr>
        <p:spPr>
          <a:xfrm>
            <a:off x="6252464" y="1600200"/>
            <a:ext cx="0" cy="5257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ZoneTexte 5"/>
          <p:cNvSpPr txBox="1"/>
          <p:nvPr/>
        </p:nvSpPr>
        <p:spPr>
          <a:xfrm>
            <a:off x="1" y="1844901"/>
            <a:ext cx="6252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conceptuel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6252464" y="1870658"/>
            <a:ext cx="5939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 smtClean="0">
                <a:latin typeface="Myriad Pro" panose="020B0503030403020204" pitchFamily="34" charset="0"/>
              </a:rPr>
              <a:t>Niveau logique</a:t>
            </a:r>
            <a:endParaRPr lang="fr-BE" sz="2400" b="1" dirty="0">
              <a:latin typeface="Myriad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6252464" y="4288179"/>
                <a:ext cx="5750332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BE" u="sng" dirty="0" smtClean="0"/>
                  <a:t>Clés étrangères</a:t>
                </a:r>
                <a:r>
                  <a:rPr lang="fr-BE" dirty="0" smtClean="0"/>
                  <a:t>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err="1" smtClean="0"/>
                  <a:t>COMPOSITION.NumComposite</a:t>
                </a:r>
                <a:endParaRPr lang="fr-BE" dirty="0" smtClean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 err="1" smtClean="0"/>
                  <a:t>COMPOSITION.NumComposant</a:t>
                </a:r>
                <a:endParaRPr lang="fr-BE" dirty="0" smtClean="0"/>
              </a:p>
              <a:p>
                <a:r>
                  <a:rPr lang="fr-BE" u="sng" dirty="0" smtClean="0"/>
                  <a:t>CIR</a:t>
                </a:r>
                <a:r>
                  <a:rPr lang="fr-BE" dirty="0" smtClean="0"/>
                  <a:t>: 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/>
                  <a:t>COMPOSIT</a:t>
                </a:r>
                <a:r>
                  <a:rPr lang="fr-BE" dirty="0" smtClean="0"/>
                  <a:t>ION</a:t>
                </a:r>
                <a:r>
                  <a:rPr lang="fr-BE" dirty="0"/>
                  <a:t>.</a:t>
                </a:r>
                <a:r>
                  <a:rPr lang="fr-BE" dirty="0" smtClean="0"/>
                  <a:t>Num</a:t>
                </a:r>
                <a:r>
                  <a:rPr lang="fr-BE" dirty="0"/>
                  <a:t>Composite</a:t>
                </a:r>
                <a14:m>
                  <m:oMath xmlns:m="http://schemas.openxmlformats.org/officeDocument/2006/math">
                    <m:r>
                      <a:rPr lang="fr-BE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 smtClean="0"/>
                  <a:t> PRODUIT.NumProd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fr-BE" dirty="0"/>
                  <a:t>COMPOSIT</a:t>
                </a:r>
                <a:r>
                  <a:rPr lang="fr-BE" dirty="0" smtClean="0"/>
                  <a:t>ION</a:t>
                </a:r>
                <a:r>
                  <a:rPr lang="fr-BE" dirty="0"/>
                  <a:t>.</a:t>
                </a:r>
                <a:r>
                  <a:rPr lang="fr-BE" dirty="0" smtClean="0"/>
                  <a:t>Num</a:t>
                </a:r>
                <a:r>
                  <a:rPr lang="fr-BE" dirty="0"/>
                  <a:t>Compos</a:t>
                </a:r>
                <a:r>
                  <a:rPr lang="fr-BE" dirty="0" smtClean="0"/>
                  <a:t>ant</a:t>
                </a:r>
                <a14:m>
                  <m:oMath xmlns:m="http://schemas.openxmlformats.org/officeDocument/2006/math">
                    <m:r>
                      <a:rPr lang="fr-B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fr-BE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fr-BE" dirty="0"/>
                  <a:t> PRODUIT.NumProd</a:t>
                </a: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464" y="4288179"/>
                <a:ext cx="5750332" cy="2308324"/>
              </a:xfrm>
              <a:prstGeom prst="rect">
                <a:avLst/>
              </a:prstGeom>
              <a:blipFill rotWithShape="0">
                <a:blip r:embed="rId2" cstate="print"/>
                <a:stretch>
                  <a:fillRect l="-954" t="-1319" b="-31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82" y="2662758"/>
            <a:ext cx="4924503" cy="223120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779" y="2703004"/>
            <a:ext cx="3885726" cy="1355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2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latin typeface="Myriad Pro" panose="020B0503030403020204" pitchFamily="34" charset="0"/>
              </a:rPr>
              <a:t>Généralisation vers le relationnel</a:t>
            </a:r>
            <a:endParaRPr lang="fr-BE" dirty="0">
              <a:latin typeface="Myriad Pro" panose="020B0503030403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>
              <a:buClrTx/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Suppression des généralisations</a:t>
            </a:r>
          </a:p>
          <a:p>
            <a:pPr algn="just">
              <a:buClrTx/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Raison:  il n’existe pas dans les modèles de données utilisé par les </a:t>
            </a:r>
            <a:r>
              <a:rPr lang="fr-BE" sz="2400" dirty="0" err="1" smtClean="0">
                <a:latin typeface="Myriad Pro" panose="020B0503030403020204" pitchFamily="34" charset="0"/>
              </a:rPr>
              <a:t>DBMSs</a:t>
            </a:r>
            <a:endParaRPr lang="fr-BE" sz="2400" dirty="0" smtClean="0">
              <a:latin typeface="Myriad Pro" panose="020B0503030403020204" pitchFamily="34" charset="0"/>
            </a:endParaRPr>
          </a:p>
          <a:p>
            <a:pPr algn="just">
              <a:buClrTx/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Contrainte:  la sémantique des généralisations doit être conservée</a:t>
            </a:r>
          </a:p>
          <a:p>
            <a:pPr algn="just">
              <a:buClrTx/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3 solutions pour conserver la même sémantique au sein d’un modèle EA sans généralisation:</a:t>
            </a:r>
          </a:p>
          <a:p>
            <a:pPr marL="708025" lvl="1" indent="-342900" algn="just">
              <a:buClrTx/>
              <a:buSzPct val="110000"/>
              <a:buFont typeface="Arial" panose="020B0604020202020204" pitchFamily="34" charset="0"/>
              <a:buChar char="•"/>
            </a:pPr>
            <a:r>
              <a:rPr lang="fr-BE" sz="2200" dirty="0" smtClean="0">
                <a:latin typeface="Myriad Pro" panose="020B0503030403020204" pitchFamily="34" charset="0"/>
              </a:rPr>
              <a:t>Supprimer les sous-entités</a:t>
            </a:r>
          </a:p>
          <a:p>
            <a:pPr marL="708025" lvl="1" indent="-342900" algn="just">
              <a:buClrTx/>
              <a:buSzPct val="110000"/>
              <a:buFont typeface="Arial" panose="020B0604020202020204" pitchFamily="34" charset="0"/>
              <a:buChar char="•"/>
            </a:pPr>
            <a:r>
              <a:rPr lang="fr-BE" sz="2200" dirty="0" smtClean="0">
                <a:latin typeface="Myriad Pro" panose="020B0503030403020204" pitchFamily="34" charset="0"/>
              </a:rPr>
              <a:t>Garder uniquement les sous-entités</a:t>
            </a:r>
          </a:p>
          <a:p>
            <a:pPr marL="708025" lvl="1" indent="-342900" algn="just">
              <a:buClrTx/>
              <a:buSzPct val="110000"/>
              <a:buFont typeface="Arial" panose="020B0604020202020204" pitchFamily="34" charset="0"/>
              <a:buChar char="•"/>
            </a:pPr>
            <a:r>
              <a:rPr lang="fr-BE" sz="2200" dirty="0" smtClean="0">
                <a:latin typeface="Myriad Pro" panose="020B0503030403020204" pitchFamily="34" charset="0"/>
              </a:rPr>
              <a:t>Modéliser à l’aide d’entités faibles</a:t>
            </a:r>
            <a:endParaRPr lang="fr-BE" sz="2200" dirty="0">
              <a:latin typeface="Myriad Pro" panose="020B0503030403020204" pitchFamily="34" charset="0"/>
            </a:endParaRPr>
          </a:p>
          <a:p>
            <a:pPr marL="501650" indent="-457200" algn="just">
              <a:buClrTx/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La seconde solution est seulement applicable aux généralisations totales et exclusives</a:t>
            </a:r>
          </a:p>
        </p:txBody>
      </p:sp>
    </p:spTree>
    <p:extLst>
      <p:ext uri="{BB962C8B-B14F-4D97-AF65-F5344CB8AC3E}">
        <p14:creationId xmlns:p14="http://schemas.microsoft.com/office/powerpoint/2010/main" val="13679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Garder la super-entité: exemple</a:t>
            </a:r>
          </a:p>
        </p:txBody>
      </p:sp>
      <p:sp>
        <p:nvSpPr>
          <p:cNvPr id="8" name="Flèche droite 7"/>
          <p:cNvSpPr/>
          <p:nvPr/>
        </p:nvSpPr>
        <p:spPr>
          <a:xfrm>
            <a:off x="5795488" y="3876540"/>
            <a:ext cx="978408" cy="2962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171" y="3080980"/>
            <a:ext cx="3820083" cy="3075121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" y="2110002"/>
            <a:ext cx="4301605" cy="416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819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Garder la </a:t>
            </a:r>
            <a:r>
              <a:rPr lang="fr-BE" dirty="0" smtClean="0">
                <a:latin typeface="Myriad Pro" panose="020B0503030403020204" pitchFamily="34" charset="0"/>
              </a:rPr>
              <a:t>super-entité</a:t>
            </a:r>
            <a:endParaRPr lang="fr-BE" dirty="0">
              <a:latin typeface="Myriad Pro" panose="020B0503030403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Implications: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100" dirty="0" smtClean="0">
                <a:latin typeface="Myriad Pro" panose="020B0503030403020204" pitchFamily="34" charset="0"/>
              </a:rPr>
              <a:t>Ajouter un nouvel attribut optionnel pour garder le type de la sous-entité 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100" dirty="0" smtClean="0">
                <a:latin typeface="Myriad Pro" panose="020B0503030403020204" pitchFamily="34" charset="0"/>
              </a:rPr>
              <a:t>La super-entité devient une entité optionnelle:</a:t>
            </a:r>
          </a:p>
          <a:p>
            <a:pPr lvl="2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1700" dirty="0" smtClean="0">
                <a:latin typeface="Myriad Pro" panose="020B0503030403020204" pitchFamily="34" charset="0"/>
              </a:rPr>
              <a:t>Seul les étudiants de master réalisent un mémoire</a:t>
            </a:r>
          </a:p>
          <a:p>
            <a:pPr lvl="2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1700" dirty="0" smtClean="0">
                <a:latin typeface="Myriad Pro" panose="020B0503030403020204" pitchFamily="34" charset="0"/>
              </a:rPr>
              <a:t>Seul les étudiants de bachelier effectuent un stage professionnel</a:t>
            </a:r>
            <a:endParaRPr lang="fr-BE" sz="1700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849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Garder les sous-entités: exemple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17" y="2382593"/>
            <a:ext cx="4583519" cy="3764654"/>
          </a:xfrm>
          <a:prstGeom prst="rect">
            <a:avLst/>
          </a:prstGeom>
        </p:spPr>
      </p:pic>
      <p:sp>
        <p:nvSpPr>
          <p:cNvPr id="8" name="Flèche droite 7"/>
          <p:cNvSpPr/>
          <p:nvPr/>
        </p:nvSpPr>
        <p:spPr>
          <a:xfrm>
            <a:off x="5743972" y="3876540"/>
            <a:ext cx="978408" cy="2962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4616" y="1812613"/>
            <a:ext cx="4060004" cy="446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54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Garder les sous-entités: 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Uniquement applicable si la généralisation est Totale (t) et Exclusive (e)</a:t>
            </a:r>
          </a:p>
          <a:p>
            <a:pPr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Implications: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Les attributs et l’identifiant de la super-entité sont transférés aux sous-entités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Prolifération d’attributs redondants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Les associations de la super-entité doivent maintenant être liées à chacune des sous-entités: implication sur le caractère optionnel des entités associées</a:t>
            </a:r>
            <a:endParaRPr lang="fr-BE" sz="2000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317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>
                <a:latin typeface="Myriad Pro" panose="020B0503030403020204" pitchFamily="34" charset="0"/>
              </a:rPr>
              <a:t>Modéliser avec des entités faibles</a:t>
            </a:r>
            <a:endParaRPr lang="fr-BE" dirty="0">
              <a:latin typeface="Myriad Pro" panose="020B0503030403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29" y="2324922"/>
            <a:ext cx="4695874" cy="3856937"/>
          </a:xfrm>
          <a:prstGeom prst="rect">
            <a:avLst/>
          </a:prstGeom>
        </p:spPr>
      </p:pic>
      <p:sp>
        <p:nvSpPr>
          <p:cNvPr id="8" name="Flèche droite 7"/>
          <p:cNvSpPr/>
          <p:nvPr/>
        </p:nvSpPr>
        <p:spPr>
          <a:xfrm>
            <a:off x="5329393" y="3807617"/>
            <a:ext cx="978408" cy="29621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3991" y="2257308"/>
            <a:ext cx="4409822" cy="38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0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dirty="0">
                <a:latin typeface="Myriad Pro" panose="020B0503030403020204" pitchFamily="34" charset="0"/>
              </a:rPr>
              <a:t>Modéliser avec des </a:t>
            </a:r>
            <a:r>
              <a:rPr lang="fr-BE" dirty="0" smtClean="0">
                <a:latin typeface="Myriad Pro" panose="020B0503030403020204" pitchFamily="34" charset="0"/>
              </a:rPr>
              <a:t>entités faibles</a:t>
            </a:r>
            <a:endParaRPr lang="fr-BE" dirty="0">
              <a:latin typeface="Myriad Pro" panose="020B050303040302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400" dirty="0" smtClean="0">
                <a:latin typeface="Myriad Pro" panose="020B0503030403020204" pitchFamily="34" charset="0"/>
              </a:rPr>
              <a:t>implications: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Les sous-entités deviennent des entités faibles</a:t>
            </a:r>
          </a:p>
          <a:p>
            <a:pPr lvl="2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1700" dirty="0" smtClean="0">
                <a:latin typeface="Myriad Pro" panose="020B0503030403020204" pitchFamily="34" charset="0"/>
              </a:rPr>
              <a:t>Quelques opérations complexes peuvent être engendrées par l’apparition d’entités faibles</a:t>
            </a:r>
          </a:p>
          <a:p>
            <a:pPr lvl="1"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</a:pPr>
            <a:r>
              <a:rPr lang="fr-BE" sz="2000" dirty="0" smtClean="0">
                <a:latin typeface="Myriad Pro" panose="020B0503030403020204" pitchFamily="34" charset="0"/>
              </a:rPr>
              <a:t>Les associations de la super-entité doivent maintenant être liées à chacune des sous-entités: implication sur le caractère optionnel des entités associées</a:t>
            </a:r>
            <a:endParaRPr lang="fr-BE" sz="2000" dirty="0"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12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ql-theme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édian">
      <a:maj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ＭＳ Ｐゴシック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é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ql-theme" id="{543BAFFC-4EBA-4AB9-A145-8A2ECD511129}" vid="{31805D4B-1C9F-4589-929C-EC7A5011551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sql-theme</Template>
  <TotalTime>1479</TotalTime>
  <Words>424</Words>
  <Application>Microsoft Office PowerPoint</Application>
  <PresentationFormat>Grand écran</PresentationFormat>
  <Paragraphs>98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3" baseType="lpstr">
      <vt:lpstr>Arial</vt:lpstr>
      <vt:lpstr>Cambria Math</vt:lpstr>
      <vt:lpstr>Myriad Pro</vt:lpstr>
      <vt:lpstr>Tw Cen MT</vt:lpstr>
      <vt:lpstr>Wingdings</vt:lpstr>
      <vt:lpstr>Wingdings 2</vt:lpstr>
      <vt:lpstr>sql-theme</vt:lpstr>
      <vt:lpstr>Entité-Association vers le relationnel</vt:lpstr>
      <vt:lpstr>Entité-association vers le relationnel</vt:lpstr>
      <vt:lpstr>Association Many-to-Many</vt:lpstr>
      <vt:lpstr>Association One-to-Many</vt:lpstr>
      <vt:lpstr>Association One-to-Many: Semi-Optionnelle</vt:lpstr>
      <vt:lpstr>Association One-to-One</vt:lpstr>
      <vt:lpstr>Association One-to-One: Semi-0ptionnelle</vt:lpstr>
      <vt:lpstr>Association One-to-One: Full-Optionnelle</vt:lpstr>
      <vt:lpstr>Association Unaire</vt:lpstr>
      <vt:lpstr>Généralisation vers le relationnel</vt:lpstr>
      <vt:lpstr>Garder la super-entité: exemple</vt:lpstr>
      <vt:lpstr>Garder la super-entité</vt:lpstr>
      <vt:lpstr>Garder les sous-entités: exemple</vt:lpstr>
      <vt:lpstr>Garder les sous-entités: exemple</vt:lpstr>
      <vt:lpstr>Modéliser avec des entités faibles</vt:lpstr>
      <vt:lpstr>Modéliser avec des entités faibles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OVYN Flavian</dc:creator>
  <cp:lastModifiedBy>OVYN Flavian</cp:lastModifiedBy>
  <cp:revision>355</cp:revision>
  <dcterms:created xsi:type="dcterms:W3CDTF">2016-04-14T08:28:37Z</dcterms:created>
  <dcterms:modified xsi:type="dcterms:W3CDTF">2016-05-09T14:40:44Z</dcterms:modified>
</cp:coreProperties>
</file>