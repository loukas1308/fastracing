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9" r:id="rId3"/>
    <p:sldId id="260" r:id="rId4"/>
    <p:sldId id="263" r:id="rId5"/>
    <p:sldId id="261" r:id="rId6"/>
    <p:sldId id="262" r:id="rId7"/>
    <p:sldId id="264" r:id="rId8"/>
    <p:sldId id="257" r:id="rId9"/>
    <p:sldId id="258" r:id="rId10"/>
    <p:sldId id="266" r:id="rId11"/>
    <p:sldId id="265" r:id="rId12"/>
    <p:sldId id="286" r:id="rId13"/>
    <p:sldId id="273" r:id="rId14"/>
    <p:sldId id="276" r:id="rId15"/>
    <p:sldId id="267" r:id="rId16"/>
    <p:sldId id="268" r:id="rId17"/>
    <p:sldId id="269" r:id="rId18"/>
    <p:sldId id="270" r:id="rId19"/>
    <p:sldId id="271" r:id="rId20"/>
    <p:sldId id="272" r:id="rId21"/>
    <p:sldId id="274" r:id="rId22"/>
    <p:sldId id="275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5" r:id="rId31"/>
    <p:sldId id="284" r:id="rId32"/>
    <p:sldId id="289" r:id="rId33"/>
    <p:sldId id="290" r:id="rId34"/>
    <p:sldId id="291" r:id="rId35"/>
    <p:sldId id="288" r:id="rId3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4E7919-5DDC-4416-922E-AE5368FCFAB0}" v="1" dt="2026-02-08T19:08:41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512" y="-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FEBVRE Raphaël" userId="46535da4-4c97-4804-a5ec-0c5f78942f8b" providerId="ADAL" clId="{543241E5-EC8A-477B-8FEE-C03A4A64144F}"/>
    <pc:docChg chg="addSld delSld modSld sldOrd">
      <pc:chgData name="LEFEBVRE Raphaël" userId="46535da4-4c97-4804-a5ec-0c5f78942f8b" providerId="ADAL" clId="{543241E5-EC8A-477B-8FEE-C03A4A64144F}" dt="2026-02-08T19:16:18.883" v="53" actId="47"/>
      <pc:docMkLst>
        <pc:docMk/>
      </pc:docMkLst>
      <pc:sldChg chg="modSp mod">
        <pc:chgData name="LEFEBVRE Raphaël" userId="46535da4-4c97-4804-a5ec-0c5f78942f8b" providerId="ADAL" clId="{543241E5-EC8A-477B-8FEE-C03A4A64144F}" dt="2026-02-08T19:11:05.927" v="16" actId="20577"/>
        <pc:sldMkLst>
          <pc:docMk/>
          <pc:sldMk cId="305966752" sldId="281"/>
        </pc:sldMkLst>
        <pc:spChg chg="mod">
          <ac:chgData name="LEFEBVRE Raphaël" userId="46535da4-4c97-4804-a5ec-0c5f78942f8b" providerId="ADAL" clId="{543241E5-EC8A-477B-8FEE-C03A4A64144F}" dt="2026-02-08T19:11:05.927" v="16" actId="20577"/>
          <ac:spMkLst>
            <pc:docMk/>
            <pc:sldMk cId="305966752" sldId="281"/>
            <ac:spMk id="2" creationId="{E45FBC34-AED2-BB83-4787-4595FEC43941}"/>
          </ac:spMkLst>
        </pc:spChg>
      </pc:sldChg>
      <pc:sldChg chg="modSp mod ord">
        <pc:chgData name="LEFEBVRE Raphaël" userId="46535da4-4c97-4804-a5ec-0c5f78942f8b" providerId="ADAL" clId="{543241E5-EC8A-477B-8FEE-C03A4A64144F}" dt="2026-02-08T19:12:29.582" v="44" actId="20577"/>
        <pc:sldMkLst>
          <pc:docMk/>
          <pc:sldMk cId="3939631280" sldId="284"/>
        </pc:sldMkLst>
        <pc:spChg chg="mod">
          <ac:chgData name="LEFEBVRE Raphaël" userId="46535da4-4c97-4804-a5ec-0c5f78942f8b" providerId="ADAL" clId="{543241E5-EC8A-477B-8FEE-C03A4A64144F}" dt="2026-02-08T19:12:29.582" v="44" actId="20577"/>
          <ac:spMkLst>
            <pc:docMk/>
            <pc:sldMk cId="3939631280" sldId="284"/>
            <ac:spMk id="2" creationId="{DDA35A7B-5838-E62D-A744-9E364DDBEF2F}"/>
          </ac:spMkLst>
        </pc:spChg>
      </pc:sldChg>
      <pc:sldChg chg="modSp mod">
        <pc:chgData name="LEFEBVRE Raphaël" userId="46535da4-4c97-4804-a5ec-0c5f78942f8b" providerId="ADAL" clId="{543241E5-EC8A-477B-8FEE-C03A4A64144F}" dt="2026-02-08T19:11:59.420" v="38" actId="20577"/>
        <pc:sldMkLst>
          <pc:docMk/>
          <pc:sldMk cId="4075272129" sldId="285"/>
        </pc:sldMkLst>
        <pc:spChg chg="mod">
          <ac:chgData name="LEFEBVRE Raphaël" userId="46535da4-4c97-4804-a5ec-0c5f78942f8b" providerId="ADAL" clId="{543241E5-EC8A-477B-8FEE-C03A4A64144F}" dt="2026-02-08T19:11:59.420" v="38" actId="20577"/>
          <ac:spMkLst>
            <pc:docMk/>
            <pc:sldMk cId="4075272129" sldId="285"/>
            <ac:spMk id="2" creationId="{2DC03666-7B89-2E55-0D1D-1C8CEFDC1B04}"/>
          </ac:spMkLst>
        </pc:spChg>
      </pc:sldChg>
      <pc:sldChg chg="del mod modShow">
        <pc:chgData name="LEFEBVRE Raphaël" userId="46535da4-4c97-4804-a5ec-0c5f78942f8b" providerId="ADAL" clId="{543241E5-EC8A-477B-8FEE-C03A4A64144F}" dt="2026-02-08T19:16:18.883" v="53" actId="47"/>
        <pc:sldMkLst>
          <pc:docMk/>
          <pc:sldMk cId="1199035665" sldId="287"/>
        </pc:sldMkLst>
      </pc:sldChg>
      <pc:sldChg chg="modSp mod ord">
        <pc:chgData name="LEFEBVRE Raphaël" userId="46535da4-4c97-4804-a5ec-0c5f78942f8b" providerId="ADAL" clId="{543241E5-EC8A-477B-8FEE-C03A4A64144F}" dt="2026-02-08T19:13:27.802" v="52" actId="6549"/>
        <pc:sldMkLst>
          <pc:docMk/>
          <pc:sldMk cId="1027784253" sldId="288"/>
        </pc:sldMkLst>
        <pc:spChg chg="mod">
          <ac:chgData name="LEFEBVRE Raphaël" userId="46535da4-4c97-4804-a5ec-0c5f78942f8b" providerId="ADAL" clId="{543241E5-EC8A-477B-8FEE-C03A4A64144F}" dt="2026-02-08T19:13:27.802" v="52" actId="6549"/>
          <ac:spMkLst>
            <pc:docMk/>
            <pc:sldMk cId="1027784253" sldId="288"/>
            <ac:spMk id="2" creationId="{0787B2CE-D9D0-60EF-0822-63F8100EE5AD}"/>
          </ac:spMkLst>
        </pc:spChg>
      </pc:sldChg>
      <pc:sldChg chg="modSp add mod">
        <pc:chgData name="LEFEBVRE Raphaël" userId="46535da4-4c97-4804-a5ec-0c5f78942f8b" providerId="ADAL" clId="{543241E5-EC8A-477B-8FEE-C03A4A64144F}" dt="2026-02-08T19:08:54.508" v="10" actId="20577"/>
        <pc:sldMkLst>
          <pc:docMk/>
          <pc:sldMk cId="3573242198" sldId="289"/>
        </pc:sldMkLst>
        <pc:spChg chg="mod">
          <ac:chgData name="LEFEBVRE Raphaël" userId="46535da4-4c97-4804-a5ec-0c5f78942f8b" providerId="ADAL" clId="{543241E5-EC8A-477B-8FEE-C03A4A64144F}" dt="2026-02-08T19:08:54.508" v="10" actId="20577"/>
          <ac:spMkLst>
            <pc:docMk/>
            <pc:sldMk cId="3573242198" sldId="289"/>
            <ac:spMk id="5" creationId="{ED106C40-030F-3B2D-84A5-CF7AA6DA291A}"/>
          </ac:spMkLst>
        </pc:spChg>
      </pc:sldChg>
      <pc:sldChg chg="add">
        <pc:chgData name="LEFEBVRE Raphaël" userId="46535da4-4c97-4804-a5ec-0c5f78942f8b" providerId="ADAL" clId="{543241E5-EC8A-477B-8FEE-C03A4A64144F}" dt="2026-02-08T19:08:41.136" v="3"/>
        <pc:sldMkLst>
          <pc:docMk/>
          <pc:sldMk cId="2636703026" sldId="290"/>
        </pc:sldMkLst>
      </pc:sldChg>
      <pc:sldChg chg="add">
        <pc:chgData name="LEFEBVRE Raphaël" userId="46535da4-4c97-4804-a5ec-0c5f78942f8b" providerId="ADAL" clId="{543241E5-EC8A-477B-8FEE-C03A4A64144F}" dt="2026-02-08T19:08:41.136" v="3"/>
        <pc:sldMkLst>
          <pc:docMk/>
          <pc:sldMk cId="3881152096" sldId="2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3F4941-4923-417E-AEAB-FC10EA0CF351}" type="datetimeFigureOut">
              <a:rPr lang="fr-BE" smtClean="0"/>
              <a:t>08/02/2026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CC3B73-36F0-41BC-8BD0-CD41A7F790A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68121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https://www.youtube.com/playlist?list=PLSkCdDPNwJTBZKn_ajUYSXiuAA8xVq421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CC3B73-36F0-41BC-8BD0-CD41A7F790A6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35247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E736BA-E633-06D0-F844-BFBE9C976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56F6AF-770C-8779-FA36-31E4F40F1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2C7912-C578-C9EB-CF0A-384F1A6B0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469D9-BB01-44EB-9814-E15B068AF649}" type="datetimeFigureOut">
              <a:rPr lang="fr-BE" smtClean="0"/>
              <a:t>08/02/2026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92E62D-434C-34EF-050A-E36785E9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98F2ED-2673-1AFE-FD29-46771F940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597C-7C39-4791-B70E-DE648D77B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9229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E493D6-1ECC-1D13-E654-D34DD4A81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34C356-DC6C-04DC-B99A-A53991052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C6FC1B-F4E5-68CA-3295-F86668FC4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469D9-BB01-44EB-9814-E15B068AF649}" type="datetimeFigureOut">
              <a:rPr lang="fr-BE" smtClean="0"/>
              <a:t>08/02/2026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0431B9-C068-E468-FECE-3B1725DBD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9F646C-707C-3AF4-2806-20CB04FBB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597C-7C39-4791-B70E-DE648D77B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13235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4082BC-A3F3-3B25-A358-123402551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5B5DC4-E955-2422-DA81-0AC431E7A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DD2B4F-4978-0B9F-C11A-58D844BA4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469D9-BB01-44EB-9814-E15B068AF649}" type="datetimeFigureOut">
              <a:rPr lang="fr-BE" smtClean="0"/>
              <a:t>08/02/2026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CBF267-8ACE-0DAD-DC88-E4BBB47C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BCB999-DDEF-019E-2235-5EDE6A9C8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597C-7C39-4791-B70E-DE648D77B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3456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1197A2-1499-BACF-B2DB-CDA4EC5E7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40E202-4E82-B460-B809-4314357BA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E3B4C8C-AB9E-7173-7E6A-FCDD8BBB0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C593A66-A19A-E5F7-0520-48832DB66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469D9-BB01-44EB-9814-E15B068AF649}" type="datetimeFigureOut">
              <a:rPr lang="fr-BE" smtClean="0"/>
              <a:t>08/02/2026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13EDE96-A2C3-ACD8-E167-8F267B2B7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C255909-64F1-C599-A4CB-32C3F2A44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597C-7C39-4791-B70E-DE648D77B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62983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EE23CC-9BB1-D75D-BB36-772223CF4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F852D5-D79E-570D-09EF-EC327D241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BE4877F-A275-0E40-0FD2-C71B8D339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EA2CE52-2547-ED8A-AE14-18FC77A763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6FC330B-B54D-158D-5349-227C681095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9A789C8-134B-71CE-5D16-23C85CB91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469D9-BB01-44EB-9814-E15B068AF649}" type="datetimeFigureOut">
              <a:rPr lang="fr-BE" smtClean="0"/>
              <a:t>08/02/2026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16B9C58-8A4B-1643-A00D-51B964FE9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08F942-B493-97A7-2515-7D94020F8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597C-7C39-4791-B70E-DE648D77B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8781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E25B59-05B1-A458-87CF-AAA1DB039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E383CA9-3873-0570-CF74-24E70CEF5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469D9-BB01-44EB-9814-E15B068AF649}" type="datetimeFigureOut">
              <a:rPr lang="fr-BE" smtClean="0"/>
              <a:t>08/02/2026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C548BD3-9835-FA94-F587-1E2C39982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527D5C-5C88-643F-6F72-4959626A4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597C-7C39-4791-B70E-DE648D77B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0407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FA6CBF-0D32-1403-A42C-F5D522C2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469D9-BB01-44EB-9814-E15B068AF649}" type="datetimeFigureOut">
              <a:rPr lang="fr-BE" smtClean="0"/>
              <a:t>08/02/2026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4B55653-2FAD-1261-7D5E-7CD784E2A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5700AFE-B926-0134-35BD-4576C256D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597C-7C39-4791-B70E-DE648D77B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59848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E03247-C418-0FDD-FFBE-192DA2D5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F160D5-2118-1D09-9205-7D026475E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213A67-0D70-B811-0D7B-A58100DD6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581CE62-70AF-4FF2-7412-B63926044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469D9-BB01-44EB-9814-E15B068AF649}" type="datetimeFigureOut">
              <a:rPr lang="fr-BE" smtClean="0"/>
              <a:t>08/02/2026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4F9ACC8-688B-504D-2661-1FD75D228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17FEBB7-C2A7-0FEE-14BF-288AF976B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597C-7C39-4791-B70E-DE648D77B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56345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6ACD8E-038D-D3EC-0BFD-E2979225B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231CE47-2090-AE2E-2738-668F44501D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07E7EF9-6D98-7250-6AD9-3EF5DA3F2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ED8B804-585D-2808-3023-E08DE8B2E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469D9-BB01-44EB-9814-E15B068AF649}" type="datetimeFigureOut">
              <a:rPr lang="fr-BE" smtClean="0"/>
              <a:t>08/02/2026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2D8AD8-996E-11B1-5856-1AD030B1F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E8C65A5-CE96-A623-7A4B-966128CB8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597C-7C39-4791-B70E-DE648D77B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81236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7C303F-BB59-444B-17F7-CB09D2251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4BFBD32-A050-F342-E106-BDF222B0E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254414-5BC5-1A93-FB14-A3ACEA167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469D9-BB01-44EB-9814-E15B068AF649}" type="datetimeFigureOut">
              <a:rPr lang="fr-BE" smtClean="0"/>
              <a:t>08/02/2026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41E8F6-0040-C091-3EB8-7B27BB0A3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00E296-21C3-9E43-D04B-37E0013F2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597C-7C39-4791-B70E-DE648D77B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38700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6478BA0-82D7-2C57-3997-8F2F89398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515D099-148A-C20C-42A6-0769CB41D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660BE3-0B5F-8C28-4B8A-93213E7ED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469D9-BB01-44EB-9814-E15B068AF649}" type="datetimeFigureOut">
              <a:rPr lang="fr-BE" smtClean="0"/>
              <a:t>08/02/2026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785814-261F-0805-1DA1-8C9C2ECF2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BB3946-7E6A-D9F8-CCC3-5AB7A31B2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597C-7C39-4791-B70E-DE648D77B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54260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C8BD93B-8F1C-FA9A-CD2F-F87AD32EB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46C7FDE-217D-2EE5-0AEF-5D879FEEE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45578C-155B-D71A-5DF1-DD1E117C57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F469D9-BB01-44EB-9814-E15B068AF649}" type="datetimeFigureOut">
              <a:rPr lang="fr-BE" smtClean="0"/>
              <a:t>08/02/2026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F29F15-BE7B-B2B5-35CA-60C6BAB40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A4F24E-AEA2-66EC-BCA4-4FD847AC1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77597C-7C39-4791-B70E-DE648D77B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59709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video" Target="https://www.youtube.com/embed/videoseries?list=PLSkCdDPNwJTBZKn_ajUYSXiuAA8xVq421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726511-A811-D106-EA64-654F171DA8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 dirty="0"/>
              <a:t>BPMN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7AC9653-D432-C23E-5FE7-32959C6363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BE" dirty="0"/>
              <a:t>Les bases</a:t>
            </a:r>
          </a:p>
        </p:txBody>
      </p:sp>
    </p:spTree>
    <p:extLst>
      <p:ext uri="{BB962C8B-B14F-4D97-AF65-F5344CB8AC3E}">
        <p14:creationId xmlns:p14="http://schemas.microsoft.com/office/powerpoint/2010/main" val="174966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F5AF087-9FB1-8C1B-528A-E97D416E5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BPM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4FB8D22-EF03-E7A2-D552-A6610F5E9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Business Process Management</a:t>
            </a:r>
          </a:p>
        </p:txBody>
      </p:sp>
    </p:spTree>
    <p:extLst>
      <p:ext uri="{BB962C8B-B14F-4D97-AF65-F5344CB8AC3E}">
        <p14:creationId xmlns:p14="http://schemas.microsoft.com/office/powerpoint/2010/main" val="1852884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641B1F9-2421-E77C-F392-FE5CA0FAA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Qu’est un processus?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CB4B7208-3B08-812B-D885-5EA4AC509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Un processus = une suite d’activités destinées à produire un résultat/ une valeur ajoutée​</a:t>
            </a:r>
          </a:p>
          <a:p>
            <a:r>
              <a:rPr lang="fr-BE" dirty="0"/>
              <a:t>Les processus sont réplicables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F627884-EA6D-5F94-320E-03F7C9743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889" y="3429000"/>
            <a:ext cx="9718221" cy="309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511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012937A-8004-88EC-B9C9-27D0DE9EA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Exemple: processus d’un restaurant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891238D-7A3A-EF65-2515-C678DFF1B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BE" dirty="0"/>
              <a:t>Salle</a:t>
            </a:r>
          </a:p>
          <a:p>
            <a:pPr algn="ctr"/>
            <a:endParaRPr lang="fr-BE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B360FE3-164F-E49C-B698-05D84AEBE02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BE" dirty="0"/>
              <a:t>Attribuer une table</a:t>
            </a:r>
          </a:p>
          <a:p>
            <a:r>
              <a:rPr lang="fr-BE" dirty="0"/>
              <a:t>Prendre la commande</a:t>
            </a:r>
          </a:p>
          <a:p>
            <a:r>
              <a:rPr lang="fr-BE" dirty="0"/>
              <a:t>Passer la commande aux cuisines</a:t>
            </a:r>
          </a:p>
          <a:p>
            <a:r>
              <a:rPr lang="fr-BE" dirty="0"/>
              <a:t>Servir la commande </a:t>
            </a:r>
          </a:p>
          <a:p>
            <a:r>
              <a:rPr lang="fr-BE" dirty="0"/>
              <a:t>Encaisser le client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E627C4F9-45C2-5D7A-FE0F-4FD86EB45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BE" dirty="0"/>
              <a:t>Cuisine</a:t>
            </a:r>
          </a:p>
          <a:p>
            <a:pPr algn="ctr"/>
            <a:endParaRPr lang="fr-BE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E93A951F-5288-CB90-EEEB-F12DD2B1628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BE" dirty="0"/>
              <a:t>Préparer les frites</a:t>
            </a:r>
          </a:p>
          <a:p>
            <a:r>
              <a:rPr lang="fr-BE" dirty="0"/>
              <a:t>Préparer le burger</a:t>
            </a:r>
          </a:p>
          <a:p>
            <a:r>
              <a:rPr lang="fr-BE" dirty="0"/>
              <a:t>Préparer les boissons</a:t>
            </a:r>
          </a:p>
        </p:txBody>
      </p:sp>
    </p:spTree>
    <p:extLst>
      <p:ext uri="{BB962C8B-B14F-4D97-AF65-F5344CB8AC3E}">
        <p14:creationId xmlns:p14="http://schemas.microsoft.com/office/powerpoint/2010/main" val="370252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C8C46-2985-FF9C-E726-B1CF437DA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70FD28A-80EC-95FE-B4ED-3E5BC3508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Business Process Management (BPM)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1213F73-090D-E0D9-9DFD-39E40F2AF5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BE" dirty="0"/>
              <a:t>Une méthode BPE.</a:t>
            </a:r>
          </a:p>
          <a:p>
            <a:r>
              <a:rPr lang="fr-BE" dirty="0"/>
              <a:t>Méthode permettant aux organisations de comprendre, de mesurer et d'optimiser leurs processus, en vue d'améliorer leur efficacité, qualité et rentabilité.</a:t>
            </a:r>
          </a:p>
          <a:p>
            <a:r>
              <a:rPr lang="fr-BE" dirty="0"/>
              <a:t>« AS-IS » =&gt; « TO-BE »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C3E13A7-6346-62B3-B199-67C340A079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BE" dirty="0"/>
              <a:t>Analyse des processus existants (« AS-IS »)</a:t>
            </a:r>
          </a:p>
          <a:p>
            <a:pPr lvl="1"/>
            <a:r>
              <a:rPr lang="fr-BE" dirty="0"/>
              <a:t>Recenser les activités qui composent les processus et leurs interactions</a:t>
            </a:r>
          </a:p>
          <a:p>
            <a:r>
              <a:rPr lang="fr-BE" dirty="0"/>
              <a:t>Modélisation des processus (BPMN)</a:t>
            </a:r>
          </a:p>
          <a:p>
            <a:pPr lvl="1"/>
            <a:r>
              <a:rPr lang="fr-BE" dirty="0"/>
              <a:t>Meilleure compréhension</a:t>
            </a:r>
          </a:p>
          <a:p>
            <a:pPr lvl="1"/>
            <a:r>
              <a:rPr lang="fr-BE" dirty="0"/>
              <a:t>Meilleure communication</a:t>
            </a:r>
          </a:p>
          <a:p>
            <a:r>
              <a:rPr lang="fr-BE" dirty="0"/>
              <a:t>Mesure des processus et suivi</a:t>
            </a:r>
          </a:p>
          <a:p>
            <a:pPr lvl="1"/>
            <a:r>
              <a:rPr lang="fr-BE" dirty="0"/>
              <a:t>Estimation d’efficacité</a:t>
            </a:r>
          </a:p>
          <a:p>
            <a:r>
              <a:rPr lang="fr-BE" dirty="0"/>
              <a:t>Amélioration des processus clés (TO-BE)</a:t>
            </a:r>
          </a:p>
          <a:p>
            <a:pPr lvl="1"/>
            <a:r>
              <a:rPr lang="fr-BE" dirty="0"/>
              <a:t>Modélisation du TO-BE</a:t>
            </a:r>
          </a:p>
          <a:p>
            <a:pPr lvl="1"/>
            <a:r>
              <a:rPr lang="fr-BE" dirty="0"/>
              <a:t>Automatisation</a:t>
            </a:r>
          </a:p>
        </p:txBody>
      </p:sp>
    </p:spTree>
    <p:extLst>
      <p:ext uri="{BB962C8B-B14F-4D97-AF65-F5344CB8AC3E}">
        <p14:creationId xmlns:p14="http://schemas.microsoft.com/office/powerpoint/2010/main" val="1310307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636FD6-3012-7803-55C1-1B3A27FF0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Business Process Model Notation (BPMN)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C599F7-49B5-42FC-8BAF-15D42C93B9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BE" dirty="0"/>
              <a:t>Modèle graphique permettant de représenter schématiquement les processus.</a:t>
            </a:r>
          </a:p>
          <a:p>
            <a:r>
              <a:rPr lang="fr-BE" dirty="0"/>
              <a:t>Permet donc de décrire les activités d’une organisation sous la forme d’une représentation graphique logique.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1C4407-E4F0-0462-7993-2375D3C19BD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173855"/>
            <a:ext cx="5181600" cy="365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265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EAF6BE4F-F71B-434D-4AC5-D55D4D152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BMPN: principes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8F32D52-1F46-EB79-EF7B-F9237F930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fr-BE" dirty="0"/>
              <a:t>4 catégories d’éléments</a:t>
            </a:r>
          </a:p>
          <a:p>
            <a:pPr algn="ctr"/>
            <a:endParaRPr lang="fr-BE" dirty="0"/>
          </a:p>
        </p:txBody>
      </p:sp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62802D68-8299-4784-B29A-BC04C54366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839788" y="2901929"/>
            <a:ext cx="5157787" cy="2890879"/>
          </a:xfrm>
        </p:spPr>
      </p:pic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931017A-7A5E-5071-B50A-9E1D8432C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fr-BE" dirty="0"/>
              <a:t>Formation</a:t>
            </a:r>
          </a:p>
          <a:p>
            <a:pPr algn="ctr"/>
            <a:r>
              <a:rPr lang="fr-BE" dirty="0"/>
              <a:t>(Obligatoire sauf les boucles)</a:t>
            </a:r>
          </a:p>
        </p:txBody>
      </p:sp>
      <p:pic>
        <p:nvPicPr>
          <p:cNvPr id="12" name="Média en ligne 11" title="PARTIE 2 - La modélisation avec BPMN">
            <a:hlinkClick r:id="" action="ppaction://media"/>
            <a:extLst>
              <a:ext uri="{FF2B5EF4-FFF2-40B4-BE49-F238E27FC236}">
                <a16:creationId xmlns:a16="http://schemas.microsoft.com/office/drawing/2014/main" id="{C8A906FA-0492-0436-A4AB-F6C1470D76FC}"/>
              </a:ext>
            </a:extLst>
          </p:cNvPr>
          <p:cNvPicPr>
            <a:picLocks noGrp="1" noRot="1" noChangeAspect="1"/>
          </p:cNvPicPr>
          <p:nvPr>
            <p:ph sz="quarter" idx="4"/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6172200" y="2882900"/>
            <a:ext cx="5183188" cy="292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0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19CDEE6-A1A0-4CEF-5BA7-B338D18A6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BPMN: Schéma simple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CA4296B-05D7-559B-7AF5-EC07C8BBB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Events + sequence flow connection + activities + gateways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320445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16BD3B4-5821-3BD2-0AE5-6AED66C7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Schéma de base</a:t>
            </a:r>
          </a:p>
        </p:txBody>
      </p:sp>
      <p:pic>
        <p:nvPicPr>
          <p:cNvPr id="9" name="Espace réservé du contenu 8" descr="Une image contenant Police, texte, capture d’écran, Graphique&#10;&#10;Description générée automatiquement">
            <a:extLst>
              <a:ext uri="{FF2B5EF4-FFF2-40B4-BE49-F238E27FC236}">
                <a16:creationId xmlns:a16="http://schemas.microsoft.com/office/drawing/2014/main" id="{A013976E-9C44-ED31-E246-B0804C70D3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10" y="2873830"/>
            <a:ext cx="11361380" cy="2254928"/>
          </a:xfrm>
        </p:spPr>
      </p:pic>
    </p:spTree>
    <p:extLst>
      <p:ext uri="{BB962C8B-B14F-4D97-AF65-F5344CB8AC3E}">
        <p14:creationId xmlns:p14="http://schemas.microsoft.com/office/powerpoint/2010/main" val="2035809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980BD-8FC5-9A9A-B571-8DD8D8C37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4545070-8700-7E0E-74D8-80091246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Eléments de base</a:t>
            </a:r>
          </a:p>
        </p:txBody>
      </p:sp>
      <p:pic>
        <p:nvPicPr>
          <p:cNvPr id="9" name="Espace réservé du contenu 8" descr="Une image contenant Police, texte, capture d’écran, Graphique&#10;&#10;Description générée automatiquement">
            <a:extLst>
              <a:ext uri="{FF2B5EF4-FFF2-40B4-BE49-F238E27FC236}">
                <a16:creationId xmlns:a16="http://schemas.microsoft.com/office/drawing/2014/main" id="{DAF4F54D-2B68-6C9D-830E-6F940CC940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10" y="2873830"/>
            <a:ext cx="11361380" cy="2254928"/>
          </a:xfr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D7B4DD49-CBF7-95C7-F57C-4BEF3CFB856D}"/>
              </a:ext>
            </a:extLst>
          </p:cNvPr>
          <p:cNvCxnSpPr/>
          <p:nvPr/>
        </p:nvCxnSpPr>
        <p:spPr>
          <a:xfrm>
            <a:off x="1076446" y="2118167"/>
            <a:ext cx="520860" cy="145841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300D99B7-6FE3-BAA4-B48A-6020E49DFBD0}"/>
              </a:ext>
            </a:extLst>
          </p:cNvPr>
          <p:cNvCxnSpPr>
            <a:cxnSpLocks/>
          </p:cNvCxnSpPr>
          <p:nvPr/>
        </p:nvCxnSpPr>
        <p:spPr>
          <a:xfrm flipH="1">
            <a:off x="10695008" y="2199190"/>
            <a:ext cx="658792" cy="137738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220797F7-EF84-A56C-B2CF-ABE5A0D22371}"/>
              </a:ext>
            </a:extLst>
          </p:cNvPr>
          <p:cNvCxnSpPr/>
          <p:nvPr/>
        </p:nvCxnSpPr>
        <p:spPr>
          <a:xfrm flipH="1">
            <a:off x="6678592" y="2199190"/>
            <a:ext cx="937550" cy="995423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1881540F-FB89-DDEF-1E7A-38E64C26FB37}"/>
              </a:ext>
            </a:extLst>
          </p:cNvPr>
          <p:cNvCxnSpPr>
            <a:cxnSpLocks/>
          </p:cNvCxnSpPr>
          <p:nvPr/>
        </p:nvCxnSpPr>
        <p:spPr>
          <a:xfrm flipH="1" flipV="1">
            <a:off x="4815068" y="4097438"/>
            <a:ext cx="544010" cy="209501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694150C9-6986-90E6-408F-C85EF7DCDD47}"/>
              </a:ext>
            </a:extLst>
          </p:cNvPr>
          <p:cNvSpPr txBox="1"/>
          <p:nvPr/>
        </p:nvSpPr>
        <p:spPr>
          <a:xfrm>
            <a:off x="329878" y="1642818"/>
            <a:ext cx="14931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800" dirty="0">
                <a:solidFill>
                  <a:schemeClr val="accent1">
                    <a:lumMod val="75000"/>
                  </a:schemeClr>
                </a:solidFill>
              </a:rPr>
              <a:t>Event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6A7A600-5A00-81AD-EC9C-D03721B1656C}"/>
              </a:ext>
            </a:extLst>
          </p:cNvPr>
          <p:cNvSpPr txBox="1"/>
          <p:nvPr/>
        </p:nvSpPr>
        <p:spPr>
          <a:xfrm>
            <a:off x="10607232" y="1703601"/>
            <a:ext cx="14931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800" dirty="0">
                <a:solidFill>
                  <a:schemeClr val="accent1">
                    <a:lumMod val="75000"/>
                  </a:schemeClr>
                </a:solidFill>
              </a:rPr>
              <a:t>Event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D19BC25-4F95-C537-FFEF-C42215955EFE}"/>
              </a:ext>
            </a:extLst>
          </p:cNvPr>
          <p:cNvSpPr txBox="1"/>
          <p:nvPr/>
        </p:nvSpPr>
        <p:spPr>
          <a:xfrm>
            <a:off x="6869574" y="1666753"/>
            <a:ext cx="14931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800" dirty="0" err="1">
                <a:solidFill>
                  <a:schemeClr val="accent1">
                    <a:lumMod val="75000"/>
                  </a:schemeClr>
                </a:solidFill>
              </a:rPr>
              <a:t>Task</a:t>
            </a:r>
            <a:endParaRPr lang="fr-BE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D12BD1B-2721-DCC9-FD48-B1723EA15673}"/>
              </a:ext>
            </a:extLst>
          </p:cNvPr>
          <p:cNvSpPr txBox="1"/>
          <p:nvPr/>
        </p:nvSpPr>
        <p:spPr>
          <a:xfrm>
            <a:off x="5388015" y="5930846"/>
            <a:ext cx="2581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dirty="0" err="1">
                <a:solidFill>
                  <a:schemeClr val="accent1">
                    <a:lumMod val="75000"/>
                  </a:schemeClr>
                </a:solidFill>
              </a:rPr>
              <a:t>Sequence</a:t>
            </a:r>
            <a:r>
              <a:rPr lang="fr-BE" sz="2800" dirty="0">
                <a:solidFill>
                  <a:schemeClr val="accent1">
                    <a:lumMod val="75000"/>
                  </a:schemeClr>
                </a:solidFill>
              </a:rPr>
              <a:t> flow</a:t>
            </a:r>
          </a:p>
        </p:txBody>
      </p:sp>
    </p:spTree>
    <p:extLst>
      <p:ext uri="{BB962C8B-B14F-4D97-AF65-F5344CB8AC3E}">
        <p14:creationId xmlns:p14="http://schemas.microsoft.com/office/powerpoint/2010/main" val="2638260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419014-B0E8-24D6-DA28-D0DA16E66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Principes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519C33-607C-62FD-88AC-CE3AB9372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Un processus commence toujours par un seul </a:t>
            </a:r>
            <a:r>
              <a:rPr lang="fr-BE" b="1" dirty="0"/>
              <a:t>évènement de début</a:t>
            </a:r>
            <a:r>
              <a:rPr lang="fr-BE" dirty="0"/>
              <a:t>.</a:t>
            </a:r>
          </a:p>
          <a:p>
            <a:r>
              <a:rPr lang="fr-BE" dirty="0"/>
              <a:t>Un processus se termine toujours par au moins un </a:t>
            </a:r>
            <a:r>
              <a:rPr lang="fr-BE" b="1" dirty="0"/>
              <a:t>évènement de fin</a:t>
            </a:r>
            <a:r>
              <a:rPr lang="fr-BE" dirty="0"/>
              <a:t>.</a:t>
            </a:r>
          </a:p>
          <a:p>
            <a:r>
              <a:rPr lang="fr-BE" dirty="0"/>
              <a:t>Un processus comprend une séquence d’</a:t>
            </a:r>
            <a:r>
              <a:rPr lang="fr-BE" b="1" dirty="0"/>
              <a:t>activités</a:t>
            </a:r>
            <a:r>
              <a:rPr lang="fr-BE" dirty="0"/>
              <a:t> reliées par </a:t>
            </a:r>
            <a:r>
              <a:rPr lang="fr-BE" b="1" dirty="0"/>
              <a:t>un flux de séquence</a:t>
            </a:r>
            <a:r>
              <a:rPr lang="fr-BE" dirty="0"/>
              <a:t>.</a:t>
            </a:r>
          </a:p>
          <a:p>
            <a:r>
              <a:rPr lang="fr-BE" dirty="0"/>
              <a:t>Le flux ne peut jamais être interrompu.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86502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5AD5A7-C028-CDD5-0930-9F0C22CB3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Exercice en classe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A0C403-29A2-0925-F753-8517DD9AB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Prise en main de </a:t>
            </a:r>
            <a:r>
              <a:rPr lang="fr-BE" dirty="0" err="1"/>
              <a:t>Signavio</a:t>
            </a:r>
            <a:r>
              <a:rPr lang="fr-BE" dirty="0"/>
              <a:t> (voir slides de C. </a:t>
            </a:r>
            <a:r>
              <a:rPr lang="fr-BE" dirty="0" err="1"/>
              <a:t>Cognaux</a:t>
            </a:r>
            <a:r>
              <a:rPr lang="fr-BE" dirty="0"/>
              <a:t>).</a:t>
            </a:r>
          </a:p>
          <a:p>
            <a:r>
              <a:rPr lang="fr-BE" dirty="0"/>
              <a:t>Dessiner un schéma BPMN avec 3 </a:t>
            </a:r>
            <a:r>
              <a:rPr lang="fr-BE" dirty="0" err="1"/>
              <a:t>tasks</a:t>
            </a:r>
            <a:r>
              <a:rPr lang="fr-B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044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B09D2-34C0-6A6E-ED22-8873C2A18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5E0E23C-7573-28DC-9D38-36CD511C1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Events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B7FE3CD-68A9-BCAC-290A-7DD188273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Start, intermediate, end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14308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9443535-C11F-726E-5CBA-8F8D90403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Events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511EDAE-50A1-7F52-CB00-4590DF75DE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Evènement = quand</a:t>
            </a:r>
          </a:p>
          <a:p>
            <a:pPr lvl="1"/>
            <a:r>
              <a:rPr lang="fr-BE" dirty="0"/>
              <a:t>Quand on reçoit un message</a:t>
            </a:r>
          </a:p>
          <a:p>
            <a:pPr lvl="1"/>
            <a:r>
              <a:rPr lang="fr-BE" dirty="0"/>
              <a:t>Quand on reçoit un ordre</a:t>
            </a:r>
          </a:p>
          <a:p>
            <a:pPr lvl="1"/>
            <a:r>
              <a:rPr lang="fr-BE" dirty="0"/>
              <a:t>Quand on est une certaine date/heure</a:t>
            </a:r>
          </a:p>
          <a:p>
            <a:pPr lvl="1"/>
            <a:r>
              <a:rPr lang="fr-BE" dirty="0"/>
              <a:t>Quand est passé un certain moment</a:t>
            </a:r>
          </a:p>
          <a:p>
            <a:pPr lvl="1"/>
            <a:r>
              <a:rPr lang="fr-BE" dirty="0"/>
              <a:t>…</a:t>
            </a:r>
          </a:p>
          <a:p>
            <a:r>
              <a:rPr lang="fr-BE" dirty="0"/>
              <a:t>Bien nommer les évènements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F36848C-1DCA-0C92-2C83-D7FCE1441D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BE" dirty="0"/>
              <a:t>3 catégories</a:t>
            </a:r>
          </a:p>
          <a:p>
            <a:pPr lvl="1"/>
            <a:r>
              <a:rPr lang="fr-BE" dirty="0"/>
              <a:t>Start</a:t>
            </a:r>
          </a:p>
          <a:p>
            <a:pPr lvl="1"/>
            <a:r>
              <a:rPr lang="fr-BE" dirty="0" err="1"/>
              <a:t>Intermediate</a:t>
            </a:r>
            <a:endParaRPr lang="fr-BE" dirty="0"/>
          </a:p>
          <a:p>
            <a:pPr lvl="1"/>
            <a:r>
              <a:rPr lang="fr-BE" dirty="0"/>
              <a:t>End</a:t>
            </a:r>
          </a:p>
          <a:p>
            <a:r>
              <a:rPr lang="fr-BE" dirty="0"/>
              <a:t>2 types</a:t>
            </a:r>
          </a:p>
          <a:p>
            <a:pPr lvl="1"/>
            <a:r>
              <a:rPr lang="fr-BE" dirty="0"/>
              <a:t>Catch</a:t>
            </a:r>
          </a:p>
          <a:p>
            <a:pPr lvl="1"/>
            <a:r>
              <a:rPr lang="fr-BE" dirty="0" err="1"/>
              <a:t>Throw</a:t>
            </a:r>
            <a:endParaRPr lang="fr-BE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06739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F3CBB66-EABC-158D-83DD-51203CD4C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Events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3B14CFD-ABA5-6381-23BA-E20EA08E8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BE" dirty="0"/>
              <a:t>3 catégories</a:t>
            </a:r>
          </a:p>
          <a:p>
            <a:pPr algn="ctr"/>
            <a:endParaRPr lang="fr-BE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1CAABD5E-D373-375D-8D7E-1D43A3FDC9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BE" dirty="0"/>
              <a:t>Plusieurs sous-catégories</a:t>
            </a:r>
          </a:p>
          <a:p>
            <a:pPr algn="ctr"/>
            <a:endParaRPr lang="fr-B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FB3A268-121A-EB74-E206-AB04BBEF928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781" y="2728119"/>
            <a:ext cx="37338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01E85C8-8294-C6ED-48CE-576DB005398C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801579"/>
            <a:ext cx="5183188" cy="3091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9581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C3BFE5-2FC2-82BD-65D2-7EB52EC6D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Start </a:t>
            </a:r>
            <a:r>
              <a:rPr lang="fr-BE" dirty="0" err="1"/>
              <a:t>events</a:t>
            </a:r>
            <a:endParaRPr lang="fr-B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4E92D0E-8B52-77AA-5009-F42E34A736D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2708477"/>
            <a:ext cx="4629791" cy="209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504E11E-3102-100A-F0A8-F71DA2E93FB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41288" y="2232015"/>
            <a:ext cx="4612512" cy="3050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A4D069F1-316E-E496-095E-97736E8FD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0225" y="594518"/>
            <a:ext cx="1933575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4190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1ECA91-C05E-82B8-90E4-4020F601E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Starts </a:t>
            </a:r>
            <a:r>
              <a:rPr lang="fr-BE" dirty="0" err="1"/>
              <a:t>events</a:t>
            </a:r>
            <a:endParaRPr lang="fr-BE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53957CF-F1CB-0827-3854-742783DAD19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212" y="2615408"/>
            <a:ext cx="4649188" cy="2486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3CEA7B57-2A51-D9A1-E959-25EB83D859C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837" y="2441909"/>
            <a:ext cx="4649188" cy="280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9860DEB0-4699-6866-95DE-C5591DFCD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0225" y="594518"/>
            <a:ext cx="1933575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010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F2853F-9F24-6108-6AA7-481E65884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End </a:t>
            </a:r>
            <a:r>
              <a:rPr lang="fr-BE" dirty="0" err="1"/>
              <a:t>events</a:t>
            </a:r>
            <a:endParaRPr lang="fr-BE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04FEA95-3E53-2AFF-43FF-D172299FA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2100" y="457381"/>
            <a:ext cx="2171700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>
            <a:extLst>
              <a:ext uri="{FF2B5EF4-FFF2-40B4-BE49-F238E27FC236}">
                <a16:creationId xmlns:a16="http://schemas.microsoft.com/office/drawing/2014/main" id="{B365366F-86F8-5865-D0C7-59BA8E11155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3448844"/>
            <a:ext cx="260985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5" name="Picture 9">
            <a:extLst>
              <a:ext uri="{FF2B5EF4-FFF2-40B4-BE49-F238E27FC236}">
                <a16:creationId xmlns:a16="http://schemas.microsoft.com/office/drawing/2014/main" id="{4B970BDD-8898-5AD9-A00D-FD906E6C032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075" y="3367881"/>
            <a:ext cx="2609850" cy="126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2045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A6DC8E-D208-A548-99DA-61DE70084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 err="1"/>
              <a:t>Intermediate</a:t>
            </a:r>
            <a:r>
              <a:rPr lang="fr-BE" dirty="0"/>
              <a:t> </a:t>
            </a:r>
            <a:r>
              <a:rPr lang="fr-BE" dirty="0" err="1"/>
              <a:t>events</a:t>
            </a:r>
            <a:endParaRPr lang="fr-BE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DB40ABC-76BA-440B-5605-B3A4696FE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9225" y="475456"/>
            <a:ext cx="2314575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C56F2835-D87D-BCDC-6D81-EB925A48B35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2205751"/>
            <a:ext cx="4576762" cy="3171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4A19595D-B1B3-D351-2A92-E91686A118C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499" y="1981648"/>
            <a:ext cx="4686299" cy="3653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9947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97FC1-C74E-24BA-4DB2-C8F375E33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9F9928-53B1-0763-0B3D-7B1713708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 err="1"/>
              <a:t>Intermediate</a:t>
            </a:r>
            <a:r>
              <a:rPr lang="fr-BE" dirty="0"/>
              <a:t> </a:t>
            </a:r>
            <a:r>
              <a:rPr lang="fr-BE" dirty="0" err="1"/>
              <a:t>events</a:t>
            </a:r>
            <a:endParaRPr lang="fr-BE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F63CAD2-0845-B5BF-1DB8-7ED09D67C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9225" y="475456"/>
            <a:ext cx="2314575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52818BA5-B676-E19D-BF79-6813C3BA498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40133"/>
            <a:ext cx="4752975" cy="2313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28AD89D3-3821-5A6C-A717-969BD3E97EE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4162" y="2262502"/>
            <a:ext cx="4719638" cy="316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08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90CAEFA3-ECAB-EFC8-BC6F-5E7CD10C0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err="1"/>
              <a:t>Activities</a:t>
            </a:r>
            <a:endParaRPr lang="fr-BE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74354752-954B-D5DC-B902-32B19FEA0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 err="1"/>
              <a:t>Task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32745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945E901-C821-069B-C30A-A3CB5F95D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 err="1"/>
              <a:t>Tasks</a:t>
            </a:r>
            <a:endParaRPr lang="fr-BE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31D136EE-44E5-AD86-F622-EF517550A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Une tâche = quoi = une action réalisée par une ressource</a:t>
            </a:r>
          </a:p>
          <a:p>
            <a:pPr lvl="1"/>
            <a:r>
              <a:rPr lang="fr-BE" dirty="0"/>
              <a:t>Ce que fait une personne</a:t>
            </a:r>
          </a:p>
          <a:p>
            <a:pPr lvl="1"/>
            <a:r>
              <a:rPr lang="fr-BE" dirty="0"/>
              <a:t>Ce que fait une machine</a:t>
            </a:r>
          </a:p>
          <a:p>
            <a:pPr lvl="1"/>
            <a:r>
              <a:rPr lang="fr-BE" dirty="0"/>
              <a:t>Ce que fait une application</a:t>
            </a:r>
          </a:p>
          <a:p>
            <a:r>
              <a:rPr lang="fr-BE" dirty="0"/>
              <a:t>Les tâches se succèdent de manière séquentielle:</a:t>
            </a:r>
          </a:p>
          <a:p>
            <a:pPr lvl="1"/>
            <a:r>
              <a:rPr lang="fr-BE" dirty="0"/>
              <a:t>Chaque tâche à un début et une fin. </a:t>
            </a:r>
          </a:p>
          <a:p>
            <a:pPr lvl="1"/>
            <a:r>
              <a:rPr lang="fr-BE" dirty="0"/>
              <a:t>Une tâche B ne commence que lorsque la tâche A est terminée.</a:t>
            </a:r>
          </a:p>
          <a:p>
            <a:r>
              <a:rPr lang="fr-BE" dirty="0"/>
              <a:t>Nommer avec un verbe.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3597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1C313F5-A724-9F66-40C7-0DFA9BB09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 err="1"/>
              <a:t>Tasks</a:t>
            </a:r>
            <a:endParaRPr lang="fr-B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28025BD-3833-B82B-AB3B-C61323F98B9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339" y="3310359"/>
            <a:ext cx="3359174" cy="1205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F55FC4E-3D65-FB29-AE4C-A3908F0006E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350" y="1783064"/>
            <a:ext cx="4743450" cy="4061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332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769C3D-0C22-B200-5A65-F9BB8F32A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Exemple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A054250-1042-F53C-3762-C78FE1503B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2475085"/>
            <a:ext cx="10515600" cy="288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2048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DC8BED-BE14-8E7E-ED73-3097C9F1E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err="1"/>
              <a:t>Gateways</a:t>
            </a:r>
            <a:endParaRPr lang="fr-BE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1983DAF-491B-40E0-3E64-8CB261FC3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Exclusive, </a:t>
            </a:r>
            <a:r>
              <a:rPr lang="fr-BE" dirty="0" err="1"/>
              <a:t>parallel</a:t>
            </a:r>
            <a:r>
              <a:rPr lang="fr-BE" dirty="0"/>
              <a:t>, </a:t>
            </a:r>
            <a:r>
              <a:rPr lang="fr-BE" dirty="0" err="1"/>
              <a:t>event</a:t>
            </a:r>
            <a:r>
              <a:rPr lang="fr-BE" dirty="0"/>
              <a:t> </a:t>
            </a:r>
            <a:r>
              <a:rPr lang="fr-BE" dirty="0" err="1"/>
              <a:t>based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10002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9B57EC1-805D-CAB2-2F95-373C96482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 err="1"/>
              <a:t>Gateways</a:t>
            </a:r>
            <a:endParaRPr lang="fr-BE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8DA5394D-51C9-2EA3-7A3C-BF2280BA8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Passerelle = un carrefour</a:t>
            </a:r>
          </a:p>
          <a:p>
            <a:r>
              <a:rPr lang="fr-BE" dirty="0"/>
              <a:t>Différentes catégories:</a:t>
            </a:r>
          </a:p>
          <a:p>
            <a:pPr lvl="1"/>
            <a:r>
              <a:rPr lang="fr-BE" dirty="0" err="1"/>
              <a:t>Parallel</a:t>
            </a:r>
            <a:r>
              <a:rPr lang="fr-BE" dirty="0"/>
              <a:t>: tous les chemins en parallèle.</a:t>
            </a:r>
          </a:p>
          <a:p>
            <a:pPr lvl="1"/>
            <a:r>
              <a:rPr lang="fr-BE" dirty="0"/>
              <a:t>Exclusive: un seul des chemins.</a:t>
            </a:r>
          </a:p>
          <a:p>
            <a:pPr lvl="1"/>
            <a:r>
              <a:rPr lang="fr-BE" dirty="0"/>
              <a:t>(Exclusive) </a:t>
            </a:r>
            <a:r>
              <a:rPr lang="fr-BE" dirty="0" err="1"/>
              <a:t>event</a:t>
            </a:r>
            <a:r>
              <a:rPr lang="fr-BE" dirty="0"/>
              <a:t> </a:t>
            </a:r>
            <a:r>
              <a:rPr lang="fr-BE" dirty="0" err="1"/>
              <a:t>based</a:t>
            </a:r>
            <a:r>
              <a:rPr lang="fr-BE" dirty="0"/>
              <a:t>: Un ou plusieurs chemins, en fonction des besoins.</a:t>
            </a:r>
          </a:p>
        </p:txBody>
      </p:sp>
    </p:spTree>
    <p:extLst>
      <p:ext uri="{BB962C8B-B14F-4D97-AF65-F5344CB8AC3E}">
        <p14:creationId xmlns:p14="http://schemas.microsoft.com/office/powerpoint/2010/main" val="4023072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5FBC34-AED2-BB83-4787-4595FEC43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Exclusive </a:t>
            </a:r>
            <a:r>
              <a:rPr lang="fr-BE" dirty="0" err="1"/>
              <a:t>gateways</a:t>
            </a:r>
            <a:r>
              <a:rPr lang="fr-BE" dirty="0"/>
              <a:t> (XOR)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5B657FBC-BBCD-5962-0FC4-E15969BCF16F}"/>
              </a:ext>
            </a:extLst>
          </p:cNvPr>
          <p:cNvGrpSpPr/>
          <p:nvPr/>
        </p:nvGrpSpPr>
        <p:grpSpPr>
          <a:xfrm>
            <a:off x="1239534" y="2454417"/>
            <a:ext cx="4378932" cy="3093754"/>
            <a:chOff x="586412" y="4271124"/>
            <a:chExt cx="3774962" cy="2504089"/>
          </a:xfrm>
        </p:grpSpPr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AA8763EB-8E25-1102-E086-719FD474F0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0603" t="24981" r="34828" b="34253"/>
            <a:stretch/>
          </p:blipFill>
          <p:spPr>
            <a:xfrm>
              <a:off x="586412" y="4271124"/>
              <a:ext cx="3774962" cy="2504089"/>
            </a:xfrm>
            <a:prstGeom prst="rect">
              <a:avLst/>
            </a:prstGeom>
          </p:spPr>
        </p:pic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2D70E21A-7FA7-21A1-177C-3456E0B8DE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6103" y="5554708"/>
              <a:ext cx="157655" cy="16816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6ACF1897-D7AD-3FA9-B0E3-354798B0E884}"/>
                </a:ext>
              </a:extLst>
            </p:cNvPr>
            <p:cNvCxnSpPr/>
            <p:nvPr/>
          </p:nvCxnSpPr>
          <p:spPr>
            <a:xfrm>
              <a:off x="1865593" y="5575729"/>
              <a:ext cx="178676" cy="1576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9E359E34-CF82-3EDC-CE7C-8B7C681D6224}"/>
              </a:ext>
            </a:extLst>
          </p:cNvPr>
          <p:cNvGrpSpPr/>
          <p:nvPr/>
        </p:nvGrpSpPr>
        <p:grpSpPr>
          <a:xfrm>
            <a:off x="6319778" y="2292371"/>
            <a:ext cx="4803890" cy="3093754"/>
            <a:chOff x="4664846" y="4303741"/>
            <a:chExt cx="3907924" cy="2471472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9876F119-88C9-5886-A839-9556EDEE59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0000" t="26973" r="34914" b="34099"/>
            <a:stretch/>
          </p:blipFill>
          <p:spPr>
            <a:xfrm>
              <a:off x="4664846" y="4303741"/>
              <a:ext cx="3907924" cy="2471472"/>
            </a:xfrm>
            <a:prstGeom prst="rect">
              <a:avLst/>
            </a:prstGeom>
          </p:spPr>
        </p:pic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E3F6B88A-10BE-A1EB-2B0A-CA87C8F632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46872" y="5712360"/>
              <a:ext cx="157655" cy="16816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2AF4FD75-4D44-59FB-90BA-5658F3ACC61C}"/>
                </a:ext>
              </a:extLst>
            </p:cNvPr>
            <p:cNvCxnSpPr/>
            <p:nvPr/>
          </p:nvCxnSpPr>
          <p:spPr>
            <a:xfrm>
              <a:off x="7236362" y="5733381"/>
              <a:ext cx="178676" cy="1576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966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8DF32-C622-FB8E-2FA6-10F29173F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48D1CC-6BC7-88DA-6430-0654D3B79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Exclusive </a:t>
            </a:r>
            <a:r>
              <a:rPr lang="fr-BE" dirty="0" err="1"/>
              <a:t>gateways</a:t>
            </a:r>
            <a:r>
              <a:rPr lang="fr-BE" dirty="0"/>
              <a:t> (équivalences)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E4A32C8F-B186-6C9C-5B99-F4BA74A29985}"/>
              </a:ext>
            </a:extLst>
          </p:cNvPr>
          <p:cNvGrpSpPr/>
          <p:nvPr/>
        </p:nvGrpSpPr>
        <p:grpSpPr>
          <a:xfrm>
            <a:off x="1824347" y="2645338"/>
            <a:ext cx="1899441" cy="1289803"/>
            <a:chOff x="9929419" y="1450771"/>
            <a:chExt cx="1899441" cy="1289803"/>
          </a:xfrm>
        </p:grpSpPr>
        <p:sp>
          <p:nvSpPr>
            <p:cNvPr id="7" name="Organigramme : Décision 6">
              <a:extLst>
                <a:ext uri="{FF2B5EF4-FFF2-40B4-BE49-F238E27FC236}">
                  <a16:creationId xmlns:a16="http://schemas.microsoft.com/office/drawing/2014/main" id="{696A9D69-CBAA-C5B2-C6FA-A89900E0FD60}"/>
                </a:ext>
              </a:extLst>
            </p:cNvPr>
            <p:cNvSpPr/>
            <p:nvPr/>
          </p:nvSpPr>
          <p:spPr>
            <a:xfrm>
              <a:off x="9929419" y="1907632"/>
              <a:ext cx="772923" cy="798787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BE"/>
            </a:p>
          </p:txBody>
        </p:sp>
        <p:sp>
          <p:nvSpPr>
            <p:cNvPr id="8" name="Organigramme : Décision 7">
              <a:extLst>
                <a:ext uri="{FF2B5EF4-FFF2-40B4-BE49-F238E27FC236}">
                  <a16:creationId xmlns:a16="http://schemas.microsoft.com/office/drawing/2014/main" id="{6C4974B7-1BB5-FA59-E0D7-A357F6D54442}"/>
                </a:ext>
              </a:extLst>
            </p:cNvPr>
            <p:cNvSpPr/>
            <p:nvPr/>
          </p:nvSpPr>
          <p:spPr>
            <a:xfrm>
              <a:off x="11055937" y="1941787"/>
              <a:ext cx="772923" cy="798787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BE"/>
            </a:p>
          </p:txBody>
        </p: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48964C13-74AA-0A67-2739-867E3736E8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10800" y="2206362"/>
              <a:ext cx="204273" cy="2215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12E3DF0C-0B54-7514-AD51-E42465E8E6F5}"/>
                </a:ext>
              </a:extLst>
            </p:cNvPr>
            <p:cNvCxnSpPr>
              <a:cxnSpLocks/>
            </p:cNvCxnSpPr>
            <p:nvPr/>
          </p:nvCxnSpPr>
          <p:spPr>
            <a:xfrm>
              <a:off x="10169352" y="2187064"/>
              <a:ext cx="287168" cy="28196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ZoneTexte 28">
              <a:extLst>
                <a:ext uri="{FF2B5EF4-FFF2-40B4-BE49-F238E27FC236}">
                  <a16:creationId xmlns:a16="http://schemas.microsoft.com/office/drawing/2014/main" id="{E193A6A0-8DEE-6739-0981-3E86ED01A121}"/>
                </a:ext>
              </a:extLst>
            </p:cNvPr>
            <p:cNvSpPr txBox="1"/>
            <p:nvPr/>
          </p:nvSpPr>
          <p:spPr>
            <a:xfrm>
              <a:off x="10137618" y="1450771"/>
              <a:ext cx="16177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BE" dirty="0">
                  <a:solidFill>
                    <a:srgbClr val="FF0000"/>
                  </a:solidFill>
                </a:rPr>
                <a:t>=EQUIVALENCE</a:t>
              </a:r>
            </a:p>
          </p:txBody>
        </p:sp>
        <p:sp>
          <p:nvSpPr>
            <p:cNvPr id="12" name="ZoneTexte 29">
              <a:extLst>
                <a:ext uri="{FF2B5EF4-FFF2-40B4-BE49-F238E27FC236}">
                  <a16:creationId xmlns:a16="http://schemas.microsoft.com/office/drawing/2014/main" id="{65321FA1-C30E-C941-1A16-83CD0B1784F7}"/>
                </a:ext>
              </a:extLst>
            </p:cNvPr>
            <p:cNvSpPr txBox="1"/>
            <p:nvPr/>
          </p:nvSpPr>
          <p:spPr>
            <a:xfrm>
              <a:off x="10702342" y="214593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BE" dirty="0">
                  <a:solidFill>
                    <a:srgbClr val="FF0000"/>
                  </a:solidFill>
                </a:rPr>
                <a:t>=</a:t>
              </a:r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1971F301-BAC7-A83A-21CE-9CD7B78F4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515" y="2162765"/>
            <a:ext cx="4316090" cy="3476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314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B75E2-0D12-C745-EEC4-DBE69A1C8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775E5B-1068-215E-F432-E024D4978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Exclusive </a:t>
            </a:r>
            <a:r>
              <a:rPr lang="fr-BE" dirty="0" err="1"/>
              <a:t>gateways</a:t>
            </a:r>
            <a:r>
              <a:rPr lang="fr-BE" dirty="0"/>
              <a:t> (exemple de bypass)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FF82A4A-41BE-3D4A-E31F-81D6E91F74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71" t="26149" r="34088" b="38449"/>
          <a:stretch/>
        </p:blipFill>
        <p:spPr>
          <a:xfrm>
            <a:off x="1231969" y="2181290"/>
            <a:ext cx="9967547" cy="318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206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C03666-7B89-2E55-0D1D-1C8CEFDC1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Inclusive </a:t>
            </a:r>
            <a:r>
              <a:rPr lang="fr-BE" dirty="0" err="1"/>
              <a:t>gateways</a:t>
            </a:r>
            <a:r>
              <a:rPr lang="fr-BE" dirty="0"/>
              <a:t> (OR)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4F439F9-41A8-B8B5-DAAC-0ABCD3373AD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31625"/>
            <a:ext cx="5556127" cy="2512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EFE098B-1B8C-A0F1-511B-BAA5D6D23DD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072" y="2455798"/>
            <a:ext cx="4031728" cy="3090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52721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A35A7B-5838-E62D-A744-9E364DDBE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 err="1"/>
              <a:t>Parallel</a:t>
            </a:r>
            <a:r>
              <a:rPr lang="fr-BE" dirty="0"/>
              <a:t> </a:t>
            </a:r>
            <a:r>
              <a:rPr lang="fr-BE" dirty="0" err="1"/>
              <a:t>gateways</a:t>
            </a:r>
            <a:r>
              <a:rPr lang="fr-BE" dirty="0"/>
              <a:t> (AND)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D7F6EB9-5660-FE0D-B4D4-07A70102461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78614"/>
            <a:ext cx="5181600" cy="2245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BB165E0-2A05-ECF2-9E00-353B3646759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301081"/>
            <a:ext cx="381000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96312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ED106C40-030F-3B2D-84A5-CF7AA6DA2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err="1"/>
              <a:t>Swimlanes</a:t>
            </a:r>
            <a:endParaRPr lang="fr-BE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9924351-DF84-D5F2-62A0-20BB81194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732421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5EC209C-A2C8-795E-6788-76CB0D04E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 err="1"/>
              <a:t>Swimlanes</a:t>
            </a:r>
            <a:endParaRPr lang="fr-BE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3214946-F826-0BA3-7EAB-6543EB3789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BE" dirty="0"/>
              <a:t>Les </a:t>
            </a:r>
            <a:r>
              <a:rPr lang="fr-BE" dirty="0" err="1"/>
              <a:t>swilanes</a:t>
            </a:r>
            <a:r>
              <a:rPr lang="fr-BE" dirty="0"/>
              <a:t> (couloirs) définissent les acteurs au sein de l’organisation, entre lesquels sont répartis les activités.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5CFDCEF9-C527-4094-064D-1C75FE41746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6062" y="2753519"/>
            <a:ext cx="4333875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67030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F58252E2-44B7-3D45-EA1E-C144FEBEF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 err="1"/>
              <a:t>Swimlanes</a:t>
            </a:r>
            <a:endParaRPr lang="fr-BE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976A2E49-8210-151F-C0FE-BC2A7C75EC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1" y="1943433"/>
            <a:ext cx="10515600" cy="4163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11520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87B2CE-D9D0-60EF-0822-63F8100E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Exercices 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90EF7EE-A0CF-2749-7B07-A865A4505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Dans </a:t>
            </a:r>
            <a:r>
              <a:rPr lang="fr-BE" dirty="0" err="1"/>
              <a:t>Signavio</a:t>
            </a:r>
            <a:r>
              <a:rPr lang="fr-BE" dirty="0"/>
              <a:t>: trajet domicile – EPHEC.</a:t>
            </a:r>
          </a:p>
        </p:txBody>
      </p:sp>
    </p:spTree>
    <p:extLst>
      <p:ext uri="{BB962C8B-B14F-4D97-AF65-F5344CB8AC3E}">
        <p14:creationId xmlns:p14="http://schemas.microsoft.com/office/powerpoint/2010/main" val="102778425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544</Words>
  <Application>Microsoft Office PowerPoint</Application>
  <PresentationFormat>Grand écran</PresentationFormat>
  <Paragraphs>116</Paragraphs>
  <Slides>35</Slides>
  <Notes>1</Notes>
  <HiddenSlides>0</HiddenSlides>
  <MMClips>1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39" baseType="lpstr">
      <vt:lpstr>Aptos</vt:lpstr>
      <vt:lpstr>Aptos Display</vt:lpstr>
      <vt:lpstr>Arial</vt:lpstr>
      <vt:lpstr>Thème Office</vt:lpstr>
      <vt:lpstr>BPMN</vt:lpstr>
      <vt:lpstr>BPM</vt:lpstr>
      <vt:lpstr>Qu’est un processus?</vt:lpstr>
      <vt:lpstr>Exemple: processus d’un restaurant</vt:lpstr>
      <vt:lpstr>Business Process Management (BPM)</vt:lpstr>
      <vt:lpstr>Business Process Model Notation (BPMN)</vt:lpstr>
      <vt:lpstr>BMPN: principes</vt:lpstr>
      <vt:lpstr>BPMN: Schéma simple</vt:lpstr>
      <vt:lpstr>Schéma de base</vt:lpstr>
      <vt:lpstr>Eléments de base</vt:lpstr>
      <vt:lpstr>Principes de base</vt:lpstr>
      <vt:lpstr>Exercice en classe</vt:lpstr>
      <vt:lpstr>Events</vt:lpstr>
      <vt:lpstr>Events</vt:lpstr>
      <vt:lpstr>Events</vt:lpstr>
      <vt:lpstr>Start events</vt:lpstr>
      <vt:lpstr>Starts events</vt:lpstr>
      <vt:lpstr>End events</vt:lpstr>
      <vt:lpstr>Intermediate events</vt:lpstr>
      <vt:lpstr>Intermediate events</vt:lpstr>
      <vt:lpstr>Activities</vt:lpstr>
      <vt:lpstr>Tasks</vt:lpstr>
      <vt:lpstr>Tasks</vt:lpstr>
      <vt:lpstr>Exemple</vt:lpstr>
      <vt:lpstr>Gateways</vt:lpstr>
      <vt:lpstr>Gateways</vt:lpstr>
      <vt:lpstr>Exclusive gateways (XOR)</vt:lpstr>
      <vt:lpstr>Exclusive gateways (équivalences)</vt:lpstr>
      <vt:lpstr>Exclusive gateways (exemple de bypass)</vt:lpstr>
      <vt:lpstr>Inclusive gateways (OR)</vt:lpstr>
      <vt:lpstr>Parallel gateways (AND)</vt:lpstr>
      <vt:lpstr>Swimlanes</vt:lpstr>
      <vt:lpstr>Swimlanes</vt:lpstr>
      <vt:lpstr>Swimlanes</vt:lpstr>
      <vt:lpstr>Exercices </vt:lpstr>
    </vt:vector>
  </TitlesOfParts>
  <Company>Ephec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BPMN</dc:title>
  <dc:creator>LEFEBVRE Raphaël</dc:creator>
  <cp:lastModifiedBy>LEFEBVRE Raphaël</cp:lastModifiedBy>
  <cp:revision>1</cp:revision>
  <dcterms:created xsi:type="dcterms:W3CDTF">2024-02-12T08:40:31Z</dcterms:created>
  <dcterms:modified xsi:type="dcterms:W3CDTF">2026-02-08T19:16:28Z</dcterms:modified>
</cp:coreProperties>
</file>